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58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6" r:id="rId20"/>
    <p:sldId id="274" r:id="rId21"/>
    <p:sldId id="275" r:id="rId22"/>
    <p:sldId id="277" r:id="rId23"/>
    <p:sldId id="279" r:id="rId24"/>
    <p:sldId id="280" r:id="rId25"/>
    <p:sldId id="281" r:id="rId26"/>
    <p:sldId id="282" r:id="rId27"/>
    <p:sldId id="283" r:id="rId28"/>
    <p:sldId id="278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A3B555-0DA1-4AA1-B95D-5303A95F5E0B}" type="doc">
      <dgm:prSet loTypeId="urn:microsoft.com/office/officeart/2005/8/layout/process4" loCatId="list" qsTypeId="urn:microsoft.com/office/officeart/2005/8/quickstyle/3d1" qsCatId="3D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5AFFF9EC-A570-4B0D-8673-999185E06DD1}">
      <dgm:prSet phldrT="[Text]" phldr="0" custT="1"/>
      <dgm:spPr/>
      <dgm:t>
        <a:bodyPr/>
        <a:lstStyle/>
        <a:p>
          <a:r>
            <a:rPr lang="en-IN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Verify explicitly </a:t>
          </a:r>
          <a:r>
            <a:rPr lang="en-IN" sz="2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(</a:t>
          </a:r>
          <a:r>
            <a:rPr lang="en-US" sz="2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Authenticate and authorize every request using)</a:t>
          </a:r>
          <a:endParaRPr lang="en-IN" sz="28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4F529CA-DDED-46E6-9A45-922E733C9EC4}" type="parTrans" cxnId="{1CA3C027-E005-4772-9C81-555EF97AA27C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153661D-BFA1-4FA9-B009-83DACC8E47B9}" type="sibTrans" cxnId="{1CA3C027-E005-4772-9C81-555EF97AA27C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F05F6969-61B2-497E-A8CA-9B4ED525F950}">
      <dgm:prSet phldrT="[Text]" custT="1"/>
      <dgm:spPr/>
      <dgm:t>
        <a:bodyPr/>
        <a:lstStyle/>
        <a:p>
          <a:pPr>
            <a:buNone/>
          </a:pPr>
          <a:r>
            <a:rPr lang="en-IN" sz="12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User identity</a:t>
          </a:r>
        </a:p>
      </dgm:t>
    </dgm:pt>
    <dgm:pt modelId="{CE7BD8E1-1C47-4852-ADA7-5C11419439D7}" type="parTrans" cxnId="{68CCCCEF-4F20-46D5-ADC6-FC172F1DB894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1B0FECB-45A5-4D47-8AAD-8533116B774E}" type="sibTrans" cxnId="{68CCCCEF-4F20-46D5-ADC6-FC172F1DB894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19D2C53-AC0F-4422-95D2-D8572BE6F77A}">
      <dgm:prSet phldrT="[Text]" custT="1"/>
      <dgm:spPr/>
      <dgm:t>
        <a:bodyPr/>
        <a:lstStyle/>
        <a:p>
          <a:r>
            <a:rPr lang="en-IN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Use least privileged access </a:t>
          </a:r>
          <a:r>
            <a:rPr lang="en-IN" sz="2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(Restrict access with)</a:t>
          </a:r>
        </a:p>
      </dgm:t>
    </dgm:pt>
    <dgm:pt modelId="{D95FAA13-7F15-4FCB-B0D1-094D93B66B2E}" type="parTrans" cxnId="{C058A678-C4E0-47BB-B703-2E7DF7D94176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B228C61D-4CD1-4F2A-9D6D-315A34C739AF}" type="sibTrans" cxnId="{C058A678-C4E0-47BB-B703-2E7DF7D94176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80A8F5F-6F2D-459D-B15D-7968BCFE8202}">
      <dgm:prSet phldrT="[Text]" custT="1"/>
      <dgm:spPr/>
      <dgm:t>
        <a:bodyPr/>
        <a:lstStyle/>
        <a:p>
          <a:r>
            <a:rPr lang="en-IN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Assume breach </a:t>
          </a:r>
          <a:r>
            <a:rPr lang="en-IN" sz="28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(Limit damage by)</a:t>
          </a:r>
        </a:p>
      </dgm:t>
    </dgm:pt>
    <dgm:pt modelId="{56832A84-5C33-4A17-AAD7-879A4BA6430A}" type="parTrans" cxnId="{EE5FE51D-8017-42EE-B5A7-AF73FC904715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1360F13-E914-4572-8B4D-17B24D02C947}" type="sibTrans" cxnId="{EE5FE51D-8017-42EE-B5A7-AF73FC904715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B48F6B1-F4BF-4EC0-B5C2-F6FF38A7B544}">
      <dgm:prSet phldrT="[Text]" phldr="1" custT="1"/>
      <dgm:spPr/>
      <dgm:t>
        <a:bodyPr/>
        <a:lstStyle/>
        <a:p>
          <a:endParaRPr lang="en-IN" sz="1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0B24494-F314-4450-9F31-B8F4CDF10B6C}" type="parTrans" cxnId="{D03AFB18-3468-4383-AAD2-EE7889493B3A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14FAD79-3B1B-4F1C-8F64-534F0B53F0C1}" type="sibTrans" cxnId="{D03AFB18-3468-4383-AAD2-EE7889493B3A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DB3D466B-5AF8-48B3-A258-9BBA62AD6692}">
      <dgm:prSet custT="1"/>
      <dgm:spPr/>
      <dgm:t>
        <a:bodyPr/>
        <a:lstStyle/>
        <a:p>
          <a:pPr>
            <a:buNone/>
          </a:pPr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Location</a:t>
          </a:r>
        </a:p>
      </dgm:t>
    </dgm:pt>
    <dgm:pt modelId="{64F572CD-7CFA-4B01-818C-A63388321950}" type="parTrans" cxnId="{5825C1EC-9BFA-4DD2-8267-B3AD98C97DDB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9BEEA4-F128-4FFA-8082-400A72CE15C8}" type="sibTrans" cxnId="{5825C1EC-9BFA-4DD2-8267-B3AD98C97DDB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3574CBC-9D7B-402A-89EE-AC902325D7DA}">
      <dgm:prSet custT="1"/>
      <dgm:spPr/>
      <dgm:t>
        <a:bodyPr/>
        <a:lstStyle/>
        <a:p>
          <a:pPr>
            <a:buNone/>
          </a:pPr>
          <a:r>
            <a:rPr lang="en-IN" sz="12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Device health</a:t>
          </a:r>
        </a:p>
      </dgm:t>
    </dgm:pt>
    <dgm:pt modelId="{8A7A4CDF-3F0B-48DE-A4C0-4790538FFA12}" type="parTrans" cxnId="{27A9A8BC-08AB-4146-819A-AD45EB7F5929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4B3C5BE-1C54-460C-929B-F3F307ABF33F}" type="sibTrans" cxnId="{27A9A8BC-08AB-4146-819A-AD45EB7F5929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95C0EFE-AD38-4298-8659-8B8B9C7BE5F2}">
      <dgm:prSet custT="1"/>
      <dgm:spPr/>
      <dgm:t>
        <a:bodyPr/>
        <a:lstStyle/>
        <a:p>
          <a:pPr>
            <a:buNone/>
          </a:pPr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Service/workload</a:t>
          </a:r>
        </a:p>
      </dgm:t>
    </dgm:pt>
    <dgm:pt modelId="{F2D37CFE-EB1F-48A8-AEBD-FEA810E36A03}" type="parTrans" cxnId="{988A66A8-3732-45E6-82DD-0B4259EF7F3D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BF0BFF1-535C-4429-8E27-68E34D091777}" type="sibTrans" cxnId="{988A66A8-3732-45E6-82DD-0B4259EF7F3D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E6EF42C2-8F8E-447B-92F9-1C13A5BC1166}">
      <dgm:prSet custT="1"/>
      <dgm:spPr/>
      <dgm:t>
        <a:bodyPr/>
        <a:lstStyle/>
        <a:p>
          <a:pPr>
            <a:buNone/>
          </a:pPr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Data classification</a:t>
          </a:r>
        </a:p>
      </dgm:t>
    </dgm:pt>
    <dgm:pt modelId="{387487EA-FC57-4F43-935B-E9367A224AA2}" type="parTrans" cxnId="{6AA90B11-05CB-4A1C-B6BC-CF4025E7DA70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C5275B6-1B69-48A7-BB3D-557A0F2C46E9}" type="sibTrans" cxnId="{6AA90B11-05CB-4A1C-B6BC-CF4025E7DA70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509555F9-749E-4972-915C-66C20518B16E}">
      <dgm:prSet custT="1"/>
      <dgm:spPr/>
      <dgm:t>
        <a:bodyPr/>
        <a:lstStyle/>
        <a:p>
          <a:pPr>
            <a:buNone/>
          </a:pPr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Anomalies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E16F81F-DBD8-46A5-AB7D-AA8FEAA2A388}" type="parTrans" cxnId="{A47F5D1E-4D66-4966-BD73-0FD5B4C50D19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C0E0D63-E2EE-48F5-8ED6-9B26BBFD6D15}" type="sibTrans" cxnId="{A47F5D1E-4D66-4966-BD73-0FD5B4C50D19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E501D53-2712-46F0-A90C-1FCB05B9ABBB}">
      <dgm:prSet custT="1"/>
      <dgm:spPr/>
      <dgm:t>
        <a:bodyPr/>
        <a:lstStyle/>
        <a:p>
          <a:r>
            <a:rPr lang="en-US" sz="12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Just‑In‑Time (JIT) access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44631BF9-B7FB-4B3E-9ECB-2072B683E502}" type="parTrans" cxnId="{C3CBE219-A686-4F35-9F07-D5C0C43EBE91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155DFBA-844A-429F-859D-6D05DBC0C16E}" type="sibTrans" cxnId="{C3CBE219-A686-4F35-9F07-D5C0C43EBE91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FD35E9C-AFFB-4615-85FE-2E1CFEB9C038}">
      <dgm:prSet custT="1"/>
      <dgm:spPr/>
      <dgm:t>
        <a:bodyPr/>
        <a:lstStyle/>
        <a:p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Just‑Enough‑Access (JEA)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D551DF1-1768-46B5-B633-F2988A6390E9}" type="parTrans" cxnId="{B62F6599-83B9-4DEE-8288-B62F070942A2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B867B45-3BBA-4F80-9A27-580661701691}" type="sibTrans" cxnId="{B62F6599-83B9-4DEE-8288-B62F070942A2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184904F-413C-4007-95A7-5B98CD7C9E7B}">
      <dgm:prSet custT="1"/>
      <dgm:spPr/>
      <dgm:t>
        <a:bodyPr/>
        <a:lstStyle/>
        <a:p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Risk‑based adaptive policies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EAADD96-23F0-4A95-B8D5-8511DAC7043A}" type="parTrans" cxnId="{12EEF305-F168-4484-BAC0-15427E88705C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C50BD97-169A-446A-8525-90C8A7D03868}" type="sibTrans" cxnId="{12EEF305-F168-4484-BAC0-15427E88705C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98BFF7E5-E903-4DA8-994D-523D8698D685}">
      <dgm:prSet custT="1"/>
      <dgm:spPr/>
      <dgm:t>
        <a:bodyPr/>
        <a:lstStyle/>
        <a:p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Data protection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4F3CD88-5EEB-440E-BCBD-97EA95BB1434}" type="parTrans" cxnId="{041946E1-6269-493B-95CB-490331689466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AB1E3289-5995-43CA-8DF3-2DA24E98C832}" type="sibTrans" cxnId="{041946E1-6269-493B-95CB-490331689466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547E260-82B1-4204-9F45-70576258B540}">
      <dgm:prSet custT="1"/>
      <dgm:spPr/>
      <dgm:t>
        <a:bodyPr/>
        <a:lstStyle/>
        <a:p>
          <a:r>
            <a:rPr lang="en-IN" sz="12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Minimizing blast radius</a:t>
          </a:r>
        </a:p>
      </dgm:t>
    </dgm:pt>
    <dgm:pt modelId="{5FB785D1-5538-43B4-8FB3-F809F54375F2}" type="parTrans" cxnId="{02E41748-189B-4949-96C2-070E1580CFCB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2A9345F6-54A9-45FE-889D-449D627D564A}" type="sibTrans" cxnId="{02E41748-189B-4949-96C2-070E1580CFCB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D581A73-F900-4330-8B90-78C85E5EA422}">
      <dgm:prSet custT="1"/>
      <dgm:spPr/>
      <dgm:t>
        <a:bodyPr/>
        <a:lstStyle/>
        <a:p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Segmenting access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C6B58F0-2649-4BDD-9E2C-7A74EECFDDB7}" type="parTrans" cxnId="{BB1A87D8-709D-4B78-9555-047E3E1759E1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0C9EE1C3-E7AB-43E9-91E8-4F13DD7FD8EA}" type="sibTrans" cxnId="{BB1A87D8-709D-4B78-9555-047E3E1759E1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4C6BAA4-FD08-4FC1-BF49-58D363AEBC85}">
      <dgm:prSet custT="1"/>
      <dgm:spPr/>
      <dgm:t>
        <a:bodyPr/>
        <a:lstStyle/>
        <a:p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End‑to‑end encryption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8761257A-EDA6-495E-9A74-A9FB22D95EB3}" type="parTrans" cxnId="{5CAB91D0-59A4-4277-BD55-B423010BB068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1B5093EE-28EB-4FAC-BF45-DC18DB866CFA}" type="sibTrans" cxnId="{5CAB91D0-59A4-4277-BD55-B423010BB068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3CABA80F-CE65-4C3A-86F5-D651EE72C606}">
      <dgm:prSet custT="1"/>
      <dgm:spPr/>
      <dgm:t>
        <a:bodyPr/>
        <a:lstStyle/>
        <a:p>
          <a:r>
            <a:rPr lang="en-IN" sz="1200" b="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Analytics for visibility &amp; detection</a:t>
          </a:r>
          <a:endParaRPr lang="en-IN" sz="1200" b="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7ED49159-CB7C-497B-A3DD-EC8985774174}" type="parTrans" cxnId="{D335EA71-E6EA-49BA-A67A-091947522F14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CF7CEC32-3181-4728-B395-C7F4DB27C42C}" type="sibTrans" cxnId="{D335EA71-E6EA-49BA-A67A-091947522F14}">
      <dgm:prSet/>
      <dgm:spPr/>
      <dgm:t>
        <a:bodyPr/>
        <a:lstStyle/>
        <a:p>
          <a:endParaRPr lang="en-IN" sz="3200" b="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gm:t>
    </dgm:pt>
    <dgm:pt modelId="{6AA5694F-4641-4B0A-8097-47AB1E32CF9B}" type="pres">
      <dgm:prSet presAssocID="{30A3B555-0DA1-4AA1-B95D-5303A95F5E0B}" presName="Name0" presStyleCnt="0">
        <dgm:presLayoutVars>
          <dgm:dir/>
          <dgm:animLvl val="lvl"/>
          <dgm:resizeHandles val="exact"/>
        </dgm:presLayoutVars>
      </dgm:prSet>
      <dgm:spPr/>
    </dgm:pt>
    <dgm:pt modelId="{0A0BAAF3-4F89-4D84-9EEE-0C1C8AF41681}" type="pres">
      <dgm:prSet presAssocID="{A80A8F5F-6F2D-459D-B15D-7968BCFE8202}" presName="boxAndChildren" presStyleCnt="0"/>
      <dgm:spPr/>
    </dgm:pt>
    <dgm:pt modelId="{F520108B-B43E-4EAA-91BD-B3E9286BA9B6}" type="pres">
      <dgm:prSet presAssocID="{A80A8F5F-6F2D-459D-B15D-7968BCFE8202}" presName="parentTextBox" presStyleLbl="node1" presStyleIdx="0" presStyleCnt="3"/>
      <dgm:spPr/>
    </dgm:pt>
    <dgm:pt modelId="{1751BAF3-739F-4D40-A116-859B2DEFCA25}" type="pres">
      <dgm:prSet presAssocID="{A80A8F5F-6F2D-459D-B15D-7968BCFE8202}" presName="entireBox" presStyleLbl="node1" presStyleIdx="0" presStyleCnt="3"/>
      <dgm:spPr/>
    </dgm:pt>
    <dgm:pt modelId="{D59FC249-5692-4E17-911C-FFBB645B36FF}" type="pres">
      <dgm:prSet presAssocID="{A80A8F5F-6F2D-459D-B15D-7968BCFE8202}" presName="descendantBox" presStyleCnt="0"/>
      <dgm:spPr/>
    </dgm:pt>
    <dgm:pt modelId="{511BF7B3-7109-4E30-9A3E-5B31B142D4C1}" type="pres">
      <dgm:prSet presAssocID="{8547E260-82B1-4204-9F45-70576258B540}" presName="childTextBox" presStyleLbl="fgAccFollowNode1" presStyleIdx="0" presStyleCnt="15">
        <dgm:presLayoutVars>
          <dgm:bulletEnabled val="1"/>
        </dgm:presLayoutVars>
      </dgm:prSet>
      <dgm:spPr/>
    </dgm:pt>
    <dgm:pt modelId="{FAF53D3F-4BF0-434A-BCEA-CF84685F553B}" type="pres">
      <dgm:prSet presAssocID="{3D581A73-F900-4330-8B90-78C85E5EA422}" presName="childTextBox" presStyleLbl="fgAccFollowNode1" presStyleIdx="1" presStyleCnt="15">
        <dgm:presLayoutVars>
          <dgm:bulletEnabled val="1"/>
        </dgm:presLayoutVars>
      </dgm:prSet>
      <dgm:spPr/>
    </dgm:pt>
    <dgm:pt modelId="{320DBFA3-9A99-43EC-B867-27A67E3B69B4}" type="pres">
      <dgm:prSet presAssocID="{84C6BAA4-FD08-4FC1-BF49-58D363AEBC85}" presName="childTextBox" presStyleLbl="fgAccFollowNode1" presStyleIdx="2" presStyleCnt="15">
        <dgm:presLayoutVars>
          <dgm:bulletEnabled val="1"/>
        </dgm:presLayoutVars>
      </dgm:prSet>
      <dgm:spPr/>
    </dgm:pt>
    <dgm:pt modelId="{181B801B-B2F0-4F72-B7AF-DFAE5BA84C11}" type="pres">
      <dgm:prSet presAssocID="{3CABA80F-CE65-4C3A-86F5-D651EE72C606}" presName="childTextBox" presStyleLbl="fgAccFollowNode1" presStyleIdx="3" presStyleCnt="15">
        <dgm:presLayoutVars>
          <dgm:bulletEnabled val="1"/>
        </dgm:presLayoutVars>
      </dgm:prSet>
      <dgm:spPr/>
    </dgm:pt>
    <dgm:pt modelId="{6A963911-246B-41B8-AD47-50FEC452FCA7}" type="pres">
      <dgm:prSet presAssocID="{5B48F6B1-F4BF-4EC0-B5C2-F6FF38A7B544}" presName="childTextBox" presStyleLbl="fgAccFollowNode1" presStyleIdx="4" presStyleCnt="15">
        <dgm:presLayoutVars>
          <dgm:bulletEnabled val="1"/>
        </dgm:presLayoutVars>
      </dgm:prSet>
      <dgm:spPr/>
    </dgm:pt>
    <dgm:pt modelId="{B4B34F73-FCE3-48B7-8891-CA392E89447A}" type="pres">
      <dgm:prSet presAssocID="{B228C61D-4CD1-4F2A-9D6D-315A34C739AF}" presName="sp" presStyleCnt="0"/>
      <dgm:spPr/>
    </dgm:pt>
    <dgm:pt modelId="{5D93E242-A071-4AFF-85C4-7BD54DDD321F}" type="pres">
      <dgm:prSet presAssocID="{319D2C53-AC0F-4422-95D2-D8572BE6F77A}" presName="arrowAndChildren" presStyleCnt="0"/>
      <dgm:spPr/>
    </dgm:pt>
    <dgm:pt modelId="{77B072B6-1FEF-4154-8E56-12CAED8FE950}" type="pres">
      <dgm:prSet presAssocID="{319D2C53-AC0F-4422-95D2-D8572BE6F77A}" presName="parentTextArrow" presStyleLbl="node1" presStyleIdx="0" presStyleCnt="3"/>
      <dgm:spPr/>
    </dgm:pt>
    <dgm:pt modelId="{5F87533C-6CD3-4113-A60F-20D251DCF011}" type="pres">
      <dgm:prSet presAssocID="{319D2C53-AC0F-4422-95D2-D8572BE6F77A}" presName="arrow" presStyleLbl="node1" presStyleIdx="1" presStyleCnt="3"/>
      <dgm:spPr/>
    </dgm:pt>
    <dgm:pt modelId="{41258E70-6401-4B91-B558-A5BB9CDB78D9}" type="pres">
      <dgm:prSet presAssocID="{319D2C53-AC0F-4422-95D2-D8572BE6F77A}" presName="descendantArrow" presStyleCnt="0"/>
      <dgm:spPr/>
    </dgm:pt>
    <dgm:pt modelId="{A2EC438B-EA44-4C36-BFBB-1BE94C81D91C}" type="pres">
      <dgm:prSet presAssocID="{CE501D53-2712-46F0-A90C-1FCB05B9ABBB}" presName="childTextArrow" presStyleLbl="fgAccFollowNode1" presStyleIdx="5" presStyleCnt="15">
        <dgm:presLayoutVars>
          <dgm:bulletEnabled val="1"/>
        </dgm:presLayoutVars>
      </dgm:prSet>
      <dgm:spPr/>
    </dgm:pt>
    <dgm:pt modelId="{65E0AAB2-FA57-40EA-8268-14C8AE06E519}" type="pres">
      <dgm:prSet presAssocID="{0FD35E9C-AFFB-4615-85FE-2E1CFEB9C038}" presName="childTextArrow" presStyleLbl="fgAccFollowNode1" presStyleIdx="6" presStyleCnt="15">
        <dgm:presLayoutVars>
          <dgm:bulletEnabled val="1"/>
        </dgm:presLayoutVars>
      </dgm:prSet>
      <dgm:spPr/>
    </dgm:pt>
    <dgm:pt modelId="{135FECF6-69DD-4BF5-8647-ECEE6D09642D}" type="pres">
      <dgm:prSet presAssocID="{9184904F-413C-4007-95A7-5B98CD7C9E7B}" presName="childTextArrow" presStyleLbl="fgAccFollowNode1" presStyleIdx="7" presStyleCnt="15">
        <dgm:presLayoutVars>
          <dgm:bulletEnabled val="1"/>
        </dgm:presLayoutVars>
      </dgm:prSet>
      <dgm:spPr/>
    </dgm:pt>
    <dgm:pt modelId="{D949C1B6-A56B-4B99-B8F2-9EE0F1955017}" type="pres">
      <dgm:prSet presAssocID="{98BFF7E5-E903-4DA8-994D-523D8698D685}" presName="childTextArrow" presStyleLbl="fgAccFollowNode1" presStyleIdx="8" presStyleCnt="15">
        <dgm:presLayoutVars>
          <dgm:bulletEnabled val="1"/>
        </dgm:presLayoutVars>
      </dgm:prSet>
      <dgm:spPr/>
    </dgm:pt>
    <dgm:pt modelId="{1D0717A7-B73B-4CB9-A292-DFA60928674E}" type="pres">
      <dgm:prSet presAssocID="{4153661D-BFA1-4FA9-B009-83DACC8E47B9}" presName="sp" presStyleCnt="0"/>
      <dgm:spPr/>
    </dgm:pt>
    <dgm:pt modelId="{D8434264-6325-4C38-9CAD-32B04C8E43F6}" type="pres">
      <dgm:prSet presAssocID="{5AFFF9EC-A570-4B0D-8673-999185E06DD1}" presName="arrowAndChildren" presStyleCnt="0"/>
      <dgm:spPr/>
    </dgm:pt>
    <dgm:pt modelId="{30146F07-7059-46A9-BC38-183817E53143}" type="pres">
      <dgm:prSet presAssocID="{5AFFF9EC-A570-4B0D-8673-999185E06DD1}" presName="parentTextArrow" presStyleLbl="node1" presStyleIdx="1" presStyleCnt="3"/>
      <dgm:spPr/>
    </dgm:pt>
    <dgm:pt modelId="{76B41AA5-3248-4042-B504-14A51439CDFF}" type="pres">
      <dgm:prSet presAssocID="{5AFFF9EC-A570-4B0D-8673-999185E06DD1}" presName="arrow" presStyleLbl="node1" presStyleIdx="2" presStyleCnt="3"/>
      <dgm:spPr/>
    </dgm:pt>
    <dgm:pt modelId="{0CA797EA-9298-4C0F-8CE9-CFF3C5C55231}" type="pres">
      <dgm:prSet presAssocID="{5AFFF9EC-A570-4B0D-8673-999185E06DD1}" presName="descendantArrow" presStyleCnt="0"/>
      <dgm:spPr/>
    </dgm:pt>
    <dgm:pt modelId="{CC7642B1-B4DF-40E3-9DE9-ED353DA4738F}" type="pres">
      <dgm:prSet presAssocID="{F05F6969-61B2-497E-A8CA-9B4ED525F950}" presName="childTextArrow" presStyleLbl="fgAccFollowNode1" presStyleIdx="9" presStyleCnt="15">
        <dgm:presLayoutVars>
          <dgm:bulletEnabled val="1"/>
        </dgm:presLayoutVars>
      </dgm:prSet>
      <dgm:spPr/>
    </dgm:pt>
    <dgm:pt modelId="{E2F7D3FD-B24D-4B66-AB79-BAD4151558CC}" type="pres">
      <dgm:prSet presAssocID="{DB3D466B-5AF8-48B3-A258-9BBA62AD6692}" presName="childTextArrow" presStyleLbl="fgAccFollowNode1" presStyleIdx="10" presStyleCnt="15">
        <dgm:presLayoutVars>
          <dgm:bulletEnabled val="1"/>
        </dgm:presLayoutVars>
      </dgm:prSet>
      <dgm:spPr/>
    </dgm:pt>
    <dgm:pt modelId="{540C3EBD-3B9E-40B4-8417-D5449B6B6936}" type="pres">
      <dgm:prSet presAssocID="{73574CBC-9D7B-402A-89EE-AC902325D7DA}" presName="childTextArrow" presStyleLbl="fgAccFollowNode1" presStyleIdx="11" presStyleCnt="15">
        <dgm:presLayoutVars>
          <dgm:bulletEnabled val="1"/>
        </dgm:presLayoutVars>
      </dgm:prSet>
      <dgm:spPr/>
    </dgm:pt>
    <dgm:pt modelId="{09C8583E-20CF-47ED-9436-9EBABE67F122}" type="pres">
      <dgm:prSet presAssocID="{295C0EFE-AD38-4298-8659-8B8B9C7BE5F2}" presName="childTextArrow" presStyleLbl="fgAccFollowNode1" presStyleIdx="12" presStyleCnt="15">
        <dgm:presLayoutVars>
          <dgm:bulletEnabled val="1"/>
        </dgm:presLayoutVars>
      </dgm:prSet>
      <dgm:spPr/>
    </dgm:pt>
    <dgm:pt modelId="{59B96B40-87BD-4CA3-BD0D-EE7DF85AEAA9}" type="pres">
      <dgm:prSet presAssocID="{E6EF42C2-8F8E-447B-92F9-1C13A5BC1166}" presName="childTextArrow" presStyleLbl="fgAccFollowNode1" presStyleIdx="13" presStyleCnt="15">
        <dgm:presLayoutVars>
          <dgm:bulletEnabled val="1"/>
        </dgm:presLayoutVars>
      </dgm:prSet>
      <dgm:spPr/>
    </dgm:pt>
    <dgm:pt modelId="{3BF06948-8625-4155-90D7-29817226FAA9}" type="pres">
      <dgm:prSet presAssocID="{509555F9-749E-4972-915C-66C20518B16E}" presName="childTextArrow" presStyleLbl="fgAccFollowNode1" presStyleIdx="14" presStyleCnt="15">
        <dgm:presLayoutVars>
          <dgm:bulletEnabled val="1"/>
        </dgm:presLayoutVars>
      </dgm:prSet>
      <dgm:spPr/>
    </dgm:pt>
  </dgm:ptLst>
  <dgm:cxnLst>
    <dgm:cxn modelId="{02302602-FF19-4FA5-910A-FC6A7E11A319}" type="presOf" srcId="{A80A8F5F-6F2D-459D-B15D-7968BCFE8202}" destId="{1751BAF3-739F-4D40-A116-859B2DEFCA25}" srcOrd="1" destOrd="0" presId="urn:microsoft.com/office/officeart/2005/8/layout/process4"/>
    <dgm:cxn modelId="{12EEF305-F168-4484-BAC0-15427E88705C}" srcId="{319D2C53-AC0F-4422-95D2-D8572BE6F77A}" destId="{9184904F-413C-4007-95A7-5B98CD7C9E7B}" srcOrd="2" destOrd="0" parTransId="{9EAADD96-23F0-4A95-B8D5-8511DAC7043A}" sibTransId="{8C50BD97-169A-446A-8525-90C8A7D03868}"/>
    <dgm:cxn modelId="{6AA90B11-05CB-4A1C-B6BC-CF4025E7DA70}" srcId="{5AFFF9EC-A570-4B0D-8673-999185E06DD1}" destId="{E6EF42C2-8F8E-447B-92F9-1C13A5BC1166}" srcOrd="4" destOrd="0" parTransId="{387487EA-FC57-4F43-935B-E9367A224AA2}" sibTransId="{8C5275B6-1B69-48A7-BB3D-557A0F2C46E9}"/>
    <dgm:cxn modelId="{D03AFB18-3468-4383-AAD2-EE7889493B3A}" srcId="{A80A8F5F-6F2D-459D-B15D-7968BCFE8202}" destId="{5B48F6B1-F4BF-4EC0-B5C2-F6FF38A7B544}" srcOrd="4" destOrd="0" parTransId="{A0B24494-F314-4450-9F31-B8F4CDF10B6C}" sibTransId="{614FAD79-3B1B-4F1C-8F64-534F0B53F0C1}"/>
    <dgm:cxn modelId="{C3CBE219-A686-4F35-9F07-D5C0C43EBE91}" srcId="{319D2C53-AC0F-4422-95D2-D8572BE6F77A}" destId="{CE501D53-2712-46F0-A90C-1FCB05B9ABBB}" srcOrd="0" destOrd="0" parTransId="{44631BF9-B7FB-4B3E-9ECB-2072B683E502}" sibTransId="{7155DFBA-844A-429F-859D-6D05DBC0C16E}"/>
    <dgm:cxn modelId="{EE5FE51D-8017-42EE-B5A7-AF73FC904715}" srcId="{30A3B555-0DA1-4AA1-B95D-5303A95F5E0B}" destId="{A80A8F5F-6F2D-459D-B15D-7968BCFE8202}" srcOrd="2" destOrd="0" parTransId="{56832A84-5C33-4A17-AAD7-879A4BA6430A}" sibTransId="{81360F13-E914-4572-8B4D-17B24D02C947}"/>
    <dgm:cxn modelId="{A47F5D1E-4D66-4966-BD73-0FD5B4C50D19}" srcId="{5AFFF9EC-A570-4B0D-8673-999185E06DD1}" destId="{509555F9-749E-4972-915C-66C20518B16E}" srcOrd="5" destOrd="0" parTransId="{7E16F81F-DBD8-46A5-AB7D-AA8FEAA2A388}" sibTransId="{1C0E0D63-E2EE-48F5-8ED6-9B26BBFD6D15}"/>
    <dgm:cxn modelId="{E643F021-130D-4928-AE32-509CA4BC673A}" type="presOf" srcId="{509555F9-749E-4972-915C-66C20518B16E}" destId="{3BF06948-8625-4155-90D7-29817226FAA9}" srcOrd="0" destOrd="0" presId="urn:microsoft.com/office/officeart/2005/8/layout/process4"/>
    <dgm:cxn modelId="{9A32EF22-8FA8-45A1-A59F-E6AC8758B5C6}" type="presOf" srcId="{319D2C53-AC0F-4422-95D2-D8572BE6F77A}" destId="{77B072B6-1FEF-4154-8E56-12CAED8FE950}" srcOrd="0" destOrd="0" presId="urn:microsoft.com/office/officeart/2005/8/layout/process4"/>
    <dgm:cxn modelId="{1CA3C027-E005-4772-9C81-555EF97AA27C}" srcId="{30A3B555-0DA1-4AA1-B95D-5303A95F5E0B}" destId="{5AFFF9EC-A570-4B0D-8673-999185E06DD1}" srcOrd="0" destOrd="0" parTransId="{04F529CA-DDED-46E6-9A45-922E733C9EC4}" sibTransId="{4153661D-BFA1-4FA9-B009-83DACC8E47B9}"/>
    <dgm:cxn modelId="{FD909740-0A15-4C5B-9A4F-4AC9FB3E62BF}" type="presOf" srcId="{5B48F6B1-F4BF-4EC0-B5C2-F6FF38A7B544}" destId="{6A963911-246B-41B8-AD47-50FEC452FCA7}" srcOrd="0" destOrd="0" presId="urn:microsoft.com/office/officeart/2005/8/layout/process4"/>
    <dgm:cxn modelId="{37E95D5F-1908-464D-913B-F3B3FAE8CA6E}" type="presOf" srcId="{3D581A73-F900-4330-8B90-78C85E5EA422}" destId="{FAF53D3F-4BF0-434A-BCEA-CF84685F553B}" srcOrd="0" destOrd="0" presId="urn:microsoft.com/office/officeart/2005/8/layout/process4"/>
    <dgm:cxn modelId="{02E41748-189B-4949-96C2-070E1580CFCB}" srcId="{A80A8F5F-6F2D-459D-B15D-7968BCFE8202}" destId="{8547E260-82B1-4204-9F45-70576258B540}" srcOrd="0" destOrd="0" parTransId="{5FB785D1-5538-43B4-8FB3-F809F54375F2}" sibTransId="{2A9345F6-54A9-45FE-889D-449D627D564A}"/>
    <dgm:cxn modelId="{88C5824D-9474-4A58-BE5E-6CE73F559F37}" type="presOf" srcId="{5AFFF9EC-A570-4B0D-8673-999185E06DD1}" destId="{76B41AA5-3248-4042-B504-14A51439CDFF}" srcOrd="1" destOrd="0" presId="urn:microsoft.com/office/officeart/2005/8/layout/process4"/>
    <dgm:cxn modelId="{8A89C66D-4B4F-4B27-8B02-F635AA0A01FF}" type="presOf" srcId="{F05F6969-61B2-497E-A8CA-9B4ED525F950}" destId="{CC7642B1-B4DF-40E3-9DE9-ED353DA4738F}" srcOrd="0" destOrd="0" presId="urn:microsoft.com/office/officeart/2005/8/layout/process4"/>
    <dgm:cxn modelId="{0B87914F-1105-48F5-8B6E-1D342BAFAF51}" type="presOf" srcId="{319D2C53-AC0F-4422-95D2-D8572BE6F77A}" destId="{5F87533C-6CD3-4113-A60F-20D251DCF011}" srcOrd="1" destOrd="0" presId="urn:microsoft.com/office/officeart/2005/8/layout/process4"/>
    <dgm:cxn modelId="{D335EA71-E6EA-49BA-A67A-091947522F14}" srcId="{A80A8F5F-6F2D-459D-B15D-7968BCFE8202}" destId="{3CABA80F-CE65-4C3A-86F5-D651EE72C606}" srcOrd="3" destOrd="0" parTransId="{7ED49159-CB7C-497B-A3DD-EC8985774174}" sibTransId="{CF7CEC32-3181-4728-B395-C7F4DB27C42C}"/>
    <dgm:cxn modelId="{D2493452-7216-4A7D-9997-29AB69266F2D}" type="presOf" srcId="{A80A8F5F-6F2D-459D-B15D-7968BCFE8202}" destId="{F520108B-B43E-4EAA-91BD-B3E9286BA9B6}" srcOrd="0" destOrd="0" presId="urn:microsoft.com/office/officeart/2005/8/layout/process4"/>
    <dgm:cxn modelId="{C058A678-C4E0-47BB-B703-2E7DF7D94176}" srcId="{30A3B555-0DA1-4AA1-B95D-5303A95F5E0B}" destId="{319D2C53-AC0F-4422-95D2-D8572BE6F77A}" srcOrd="1" destOrd="0" parTransId="{D95FAA13-7F15-4FCB-B0D1-094D93B66B2E}" sibTransId="{B228C61D-4CD1-4F2A-9D6D-315A34C739AF}"/>
    <dgm:cxn modelId="{E339AC58-F914-456D-AA7C-6FC92533D5E3}" type="presOf" srcId="{295C0EFE-AD38-4298-8659-8B8B9C7BE5F2}" destId="{09C8583E-20CF-47ED-9436-9EBABE67F122}" srcOrd="0" destOrd="0" presId="urn:microsoft.com/office/officeart/2005/8/layout/process4"/>
    <dgm:cxn modelId="{5C77AE78-E579-4649-8E8D-BF0A1516C95C}" type="presOf" srcId="{5AFFF9EC-A570-4B0D-8673-999185E06DD1}" destId="{30146F07-7059-46A9-BC38-183817E53143}" srcOrd="0" destOrd="0" presId="urn:microsoft.com/office/officeart/2005/8/layout/process4"/>
    <dgm:cxn modelId="{12B90B86-18FF-4DC2-AE19-86896580F73C}" type="presOf" srcId="{CE501D53-2712-46F0-A90C-1FCB05B9ABBB}" destId="{A2EC438B-EA44-4C36-BFBB-1BE94C81D91C}" srcOrd="0" destOrd="0" presId="urn:microsoft.com/office/officeart/2005/8/layout/process4"/>
    <dgm:cxn modelId="{3890BE89-706D-4967-803F-8286EB6154F7}" type="presOf" srcId="{DB3D466B-5AF8-48B3-A258-9BBA62AD6692}" destId="{E2F7D3FD-B24D-4B66-AB79-BAD4151558CC}" srcOrd="0" destOrd="0" presId="urn:microsoft.com/office/officeart/2005/8/layout/process4"/>
    <dgm:cxn modelId="{CBA93C8B-FF26-4700-8690-205FECF3A769}" type="presOf" srcId="{84C6BAA4-FD08-4FC1-BF49-58D363AEBC85}" destId="{320DBFA3-9A99-43EC-B867-27A67E3B69B4}" srcOrd="0" destOrd="0" presId="urn:microsoft.com/office/officeart/2005/8/layout/process4"/>
    <dgm:cxn modelId="{5D51D696-691C-4FAF-AD0E-5A2E63F56C90}" type="presOf" srcId="{30A3B555-0DA1-4AA1-B95D-5303A95F5E0B}" destId="{6AA5694F-4641-4B0A-8097-47AB1E32CF9B}" srcOrd="0" destOrd="0" presId="urn:microsoft.com/office/officeart/2005/8/layout/process4"/>
    <dgm:cxn modelId="{B62F6599-83B9-4DEE-8288-B62F070942A2}" srcId="{319D2C53-AC0F-4422-95D2-D8572BE6F77A}" destId="{0FD35E9C-AFFB-4615-85FE-2E1CFEB9C038}" srcOrd="1" destOrd="0" parTransId="{0D551DF1-1768-46B5-B633-F2988A6390E9}" sibTransId="{0B867B45-3BBA-4F80-9A27-580661701691}"/>
    <dgm:cxn modelId="{988A66A8-3732-45E6-82DD-0B4259EF7F3D}" srcId="{5AFFF9EC-A570-4B0D-8673-999185E06DD1}" destId="{295C0EFE-AD38-4298-8659-8B8B9C7BE5F2}" srcOrd="3" destOrd="0" parTransId="{F2D37CFE-EB1F-48A8-AEBD-FEA810E36A03}" sibTransId="{7BF0BFF1-535C-4429-8E27-68E34D091777}"/>
    <dgm:cxn modelId="{723D9BAB-2AB1-42CB-B97B-80A216CAF042}" type="presOf" srcId="{8547E260-82B1-4204-9F45-70576258B540}" destId="{511BF7B3-7109-4E30-9A3E-5B31B142D4C1}" srcOrd="0" destOrd="0" presId="urn:microsoft.com/office/officeart/2005/8/layout/process4"/>
    <dgm:cxn modelId="{27A9A8BC-08AB-4146-819A-AD45EB7F5929}" srcId="{5AFFF9EC-A570-4B0D-8673-999185E06DD1}" destId="{73574CBC-9D7B-402A-89EE-AC902325D7DA}" srcOrd="2" destOrd="0" parTransId="{8A7A4CDF-3F0B-48DE-A4C0-4790538FFA12}" sibTransId="{54B3C5BE-1C54-460C-929B-F3F307ABF33F}"/>
    <dgm:cxn modelId="{246B35C3-04E4-414C-9F98-8C4046DD7E5F}" type="presOf" srcId="{0FD35E9C-AFFB-4615-85FE-2E1CFEB9C038}" destId="{65E0AAB2-FA57-40EA-8268-14C8AE06E519}" srcOrd="0" destOrd="0" presId="urn:microsoft.com/office/officeart/2005/8/layout/process4"/>
    <dgm:cxn modelId="{734C25C5-36D9-481E-9ED5-F2A065AB75CE}" type="presOf" srcId="{3CABA80F-CE65-4C3A-86F5-D651EE72C606}" destId="{181B801B-B2F0-4F72-B7AF-DFAE5BA84C11}" srcOrd="0" destOrd="0" presId="urn:microsoft.com/office/officeart/2005/8/layout/process4"/>
    <dgm:cxn modelId="{56B86BCA-6670-4A42-B43E-282A5308CE94}" type="presOf" srcId="{98BFF7E5-E903-4DA8-994D-523D8698D685}" destId="{D949C1B6-A56B-4B99-B8F2-9EE0F1955017}" srcOrd="0" destOrd="0" presId="urn:microsoft.com/office/officeart/2005/8/layout/process4"/>
    <dgm:cxn modelId="{5CAB91D0-59A4-4277-BD55-B423010BB068}" srcId="{A80A8F5F-6F2D-459D-B15D-7968BCFE8202}" destId="{84C6BAA4-FD08-4FC1-BF49-58D363AEBC85}" srcOrd="2" destOrd="0" parTransId="{8761257A-EDA6-495E-9A74-A9FB22D95EB3}" sibTransId="{1B5093EE-28EB-4FAC-BF45-DC18DB866CFA}"/>
    <dgm:cxn modelId="{BB1A87D8-709D-4B78-9555-047E3E1759E1}" srcId="{A80A8F5F-6F2D-459D-B15D-7968BCFE8202}" destId="{3D581A73-F900-4330-8B90-78C85E5EA422}" srcOrd="1" destOrd="0" parTransId="{0C6B58F0-2649-4BDD-9E2C-7A74EECFDDB7}" sibTransId="{0C9EE1C3-E7AB-43E9-91E8-4F13DD7FD8EA}"/>
    <dgm:cxn modelId="{041946E1-6269-493B-95CB-490331689466}" srcId="{319D2C53-AC0F-4422-95D2-D8572BE6F77A}" destId="{98BFF7E5-E903-4DA8-994D-523D8698D685}" srcOrd="3" destOrd="0" parTransId="{04F3CD88-5EEB-440E-BCBD-97EA95BB1434}" sibTransId="{AB1E3289-5995-43CA-8DF3-2DA24E98C832}"/>
    <dgm:cxn modelId="{C9BE45E4-7DD3-4716-9E46-2112AFB8674D}" type="presOf" srcId="{73574CBC-9D7B-402A-89EE-AC902325D7DA}" destId="{540C3EBD-3B9E-40B4-8417-D5449B6B6936}" srcOrd="0" destOrd="0" presId="urn:microsoft.com/office/officeart/2005/8/layout/process4"/>
    <dgm:cxn modelId="{5825C1EC-9BFA-4DD2-8267-B3AD98C97DDB}" srcId="{5AFFF9EC-A570-4B0D-8673-999185E06DD1}" destId="{DB3D466B-5AF8-48B3-A258-9BBA62AD6692}" srcOrd="1" destOrd="0" parTransId="{64F572CD-7CFA-4B01-818C-A63388321950}" sibTransId="{719BEEA4-F128-4FFA-8082-400A72CE15C8}"/>
    <dgm:cxn modelId="{B468CEEC-2659-42BE-822F-E74D8A6085E9}" type="presOf" srcId="{E6EF42C2-8F8E-447B-92F9-1C13A5BC1166}" destId="{59B96B40-87BD-4CA3-BD0D-EE7DF85AEAA9}" srcOrd="0" destOrd="0" presId="urn:microsoft.com/office/officeart/2005/8/layout/process4"/>
    <dgm:cxn modelId="{68CCCCEF-4F20-46D5-ADC6-FC172F1DB894}" srcId="{5AFFF9EC-A570-4B0D-8673-999185E06DD1}" destId="{F05F6969-61B2-497E-A8CA-9B4ED525F950}" srcOrd="0" destOrd="0" parTransId="{CE7BD8E1-1C47-4852-ADA7-5C11419439D7}" sibTransId="{E1B0FECB-45A5-4D47-8AAD-8533116B774E}"/>
    <dgm:cxn modelId="{AA7133F1-BFB7-401A-90C3-E8A1E1D9D71A}" type="presOf" srcId="{9184904F-413C-4007-95A7-5B98CD7C9E7B}" destId="{135FECF6-69DD-4BF5-8647-ECEE6D09642D}" srcOrd="0" destOrd="0" presId="urn:microsoft.com/office/officeart/2005/8/layout/process4"/>
    <dgm:cxn modelId="{5A362C3E-1BEF-4129-8AE2-612463C3A6B1}" type="presParOf" srcId="{6AA5694F-4641-4B0A-8097-47AB1E32CF9B}" destId="{0A0BAAF3-4F89-4D84-9EEE-0C1C8AF41681}" srcOrd="0" destOrd="0" presId="urn:microsoft.com/office/officeart/2005/8/layout/process4"/>
    <dgm:cxn modelId="{696E8EB6-C2D0-4FF2-8958-D359DFC326BB}" type="presParOf" srcId="{0A0BAAF3-4F89-4D84-9EEE-0C1C8AF41681}" destId="{F520108B-B43E-4EAA-91BD-B3E9286BA9B6}" srcOrd="0" destOrd="0" presId="urn:microsoft.com/office/officeart/2005/8/layout/process4"/>
    <dgm:cxn modelId="{E03385A3-A7EF-4505-A31D-92E6BD550277}" type="presParOf" srcId="{0A0BAAF3-4F89-4D84-9EEE-0C1C8AF41681}" destId="{1751BAF3-739F-4D40-A116-859B2DEFCA25}" srcOrd="1" destOrd="0" presId="urn:microsoft.com/office/officeart/2005/8/layout/process4"/>
    <dgm:cxn modelId="{AB10963B-3320-4E76-9F47-BFF50FF3D44F}" type="presParOf" srcId="{0A0BAAF3-4F89-4D84-9EEE-0C1C8AF41681}" destId="{D59FC249-5692-4E17-911C-FFBB645B36FF}" srcOrd="2" destOrd="0" presId="urn:microsoft.com/office/officeart/2005/8/layout/process4"/>
    <dgm:cxn modelId="{BEDABB14-1F08-420D-8E40-3F1341585257}" type="presParOf" srcId="{D59FC249-5692-4E17-911C-FFBB645B36FF}" destId="{511BF7B3-7109-4E30-9A3E-5B31B142D4C1}" srcOrd="0" destOrd="0" presId="urn:microsoft.com/office/officeart/2005/8/layout/process4"/>
    <dgm:cxn modelId="{E090E580-BD90-4567-A6CF-23E533E18258}" type="presParOf" srcId="{D59FC249-5692-4E17-911C-FFBB645B36FF}" destId="{FAF53D3F-4BF0-434A-BCEA-CF84685F553B}" srcOrd="1" destOrd="0" presId="urn:microsoft.com/office/officeart/2005/8/layout/process4"/>
    <dgm:cxn modelId="{F3ACDEF7-58CE-4D80-B14B-D5C01D435179}" type="presParOf" srcId="{D59FC249-5692-4E17-911C-FFBB645B36FF}" destId="{320DBFA3-9A99-43EC-B867-27A67E3B69B4}" srcOrd="2" destOrd="0" presId="urn:microsoft.com/office/officeart/2005/8/layout/process4"/>
    <dgm:cxn modelId="{7DD71D14-DAF9-4B01-9E97-83A4319C0735}" type="presParOf" srcId="{D59FC249-5692-4E17-911C-FFBB645B36FF}" destId="{181B801B-B2F0-4F72-B7AF-DFAE5BA84C11}" srcOrd="3" destOrd="0" presId="urn:microsoft.com/office/officeart/2005/8/layout/process4"/>
    <dgm:cxn modelId="{25BB4271-2B58-4BE0-ADFC-38E21034D342}" type="presParOf" srcId="{D59FC249-5692-4E17-911C-FFBB645B36FF}" destId="{6A963911-246B-41B8-AD47-50FEC452FCA7}" srcOrd="4" destOrd="0" presId="urn:microsoft.com/office/officeart/2005/8/layout/process4"/>
    <dgm:cxn modelId="{3E93C4F9-948F-4393-832E-079DC4D32DD8}" type="presParOf" srcId="{6AA5694F-4641-4B0A-8097-47AB1E32CF9B}" destId="{B4B34F73-FCE3-48B7-8891-CA392E89447A}" srcOrd="1" destOrd="0" presId="urn:microsoft.com/office/officeart/2005/8/layout/process4"/>
    <dgm:cxn modelId="{84918363-5C8A-4E12-9A14-31B1B8F3C1D6}" type="presParOf" srcId="{6AA5694F-4641-4B0A-8097-47AB1E32CF9B}" destId="{5D93E242-A071-4AFF-85C4-7BD54DDD321F}" srcOrd="2" destOrd="0" presId="urn:microsoft.com/office/officeart/2005/8/layout/process4"/>
    <dgm:cxn modelId="{CFFFA785-6206-4F1E-A4C2-BE9E26756447}" type="presParOf" srcId="{5D93E242-A071-4AFF-85C4-7BD54DDD321F}" destId="{77B072B6-1FEF-4154-8E56-12CAED8FE950}" srcOrd="0" destOrd="0" presId="urn:microsoft.com/office/officeart/2005/8/layout/process4"/>
    <dgm:cxn modelId="{CBA671C8-858C-4A4C-B642-38F8426828F6}" type="presParOf" srcId="{5D93E242-A071-4AFF-85C4-7BD54DDD321F}" destId="{5F87533C-6CD3-4113-A60F-20D251DCF011}" srcOrd="1" destOrd="0" presId="urn:microsoft.com/office/officeart/2005/8/layout/process4"/>
    <dgm:cxn modelId="{178DB5D9-9DC7-4016-B799-CB815AE89DC4}" type="presParOf" srcId="{5D93E242-A071-4AFF-85C4-7BD54DDD321F}" destId="{41258E70-6401-4B91-B558-A5BB9CDB78D9}" srcOrd="2" destOrd="0" presId="urn:microsoft.com/office/officeart/2005/8/layout/process4"/>
    <dgm:cxn modelId="{A7DEB5DC-82ED-48F9-A01C-DE9A3D21F6E5}" type="presParOf" srcId="{41258E70-6401-4B91-B558-A5BB9CDB78D9}" destId="{A2EC438B-EA44-4C36-BFBB-1BE94C81D91C}" srcOrd="0" destOrd="0" presId="urn:microsoft.com/office/officeart/2005/8/layout/process4"/>
    <dgm:cxn modelId="{0AD06FD7-4EFE-4B75-B792-5C6291EC709D}" type="presParOf" srcId="{41258E70-6401-4B91-B558-A5BB9CDB78D9}" destId="{65E0AAB2-FA57-40EA-8268-14C8AE06E519}" srcOrd="1" destOrd="0" presId="urn:microsoft.com/office/officeart/2005/8/layout/process4"/>
    <dgm:cxn modelId="{91DE1019-7191-402A-B039-7580BFB939D6}" type="presParOf" srcId="{41258E70-6401-4B91-B558-A5BB9CDB78D9}" destId="{135FECF6-69DD-4BF5-8647-ECEE6D09642D}" srcOrd="2" destOrd="0" presId="urn:microsoft.com/office/officeart/2005/8/layout/process4"/>
    <dgm:cxn modelId="{FA57E4BA-DF41-4B32-BD43-D02402B5ABFE}" type="presParOf" srcId="{41258E70-6401-4B91-B558-A5BB9CDB78D9}" destId="{D949C1B6-A56B-4B99-B8F2-9EE0F1955017}" srcOrd="3" destOrd="0" presId="urn:microsoft.com/office/officeart/2005/8/layout/process4"/>
    <dgm:cxn modelId="{ACDB12FB-390B-4A91-A473-C25108544B3F}" type="presParOf" srcId="{6AA5694F-4641-4B0A-8097-47AB1E32CF9B}" destId="{1D0717A7-B73B-4CB9-A292-DFA60928674E}" srcOrd="3" destOrd="0" presId="urn:microsoft.com/office/officeart/2005/8/layout/process4"/>
    <dgm:cxn modelId="{699419A2-20DB-4D52-AB6F-1AF36ECF8C8E}" type="presParOf" srcId="{6AA5694F-4641-4B0A-8097-47AB1E32CF9B}" destId="{D8434264-6325-4C38-9CAD-32B04C8E43F6}" srcOrd="4" destOrd="0" presId="urn:microsoft.com/office/officeart/2005/8/layout/process4"/>
    <dgm:cxn modelId="{1E40A4CF-727B-44AF-819E-6507B4FAEA91}" type="presParOf" srcId="{D8434264-6325-4C38-9CAD-32B04C8E43F6}" destId="{30146F07-7059-46A9-BC38-183817E53143}" srcOrd="0" destOrd="0" presId="urn:microsoft.com/office/officeart/2005/8/layout/process4"/>
    <dgm:cxn modelId="{EC2E998B-CE80-4F95-ABDA-62AEEEBA8CB7}" type="presParOf" srcId="{D8434264-6325-4C38-9CAD-32B04C8E43F6}" destId="{76B41AA5-3248-4042-B504-14A51439CDFF}" srcOrd="1" destOrd="0" presId="urn:microsoft.com/office/officeart/2005/8/layout/process4"/>
    <dgm:cxn modelId="{0472AA6D-630A-4B4A-8B95-4ECC6CC6D423}" type="presParOf" srcId="{D8434264-6325-4C38-9CAD-32B04C8E43F6}" destId="{0CA797EA-9298-4C0F-8CE9-CFF3C5C55231}" srcOrd="2" destOrd="0" presId="urn:microsoft.com/office/officeart/2005/8/layout/process4"/>
    <dgm:cxn modelId="{205C5070-FC70-4CA8-A5B1-F66A24510733}" type="presParOf" srcId="{0CA797EA-9298-4C0F-8CE9-CFF3C5C55231}" destId="{CC7642B1-B4DF-40E3-9DE9-ED353DA4738F}" srcOrd="0" destOrd="0" presId="urn:microsoft.com/office/officeart/2005/8/layout/process4"/>
    <dgm:cxn modelId="{6DF1FCA8-F602-401A-8754-EAD7DBC53744}" type="presParOf" srcId="{0CA797EA-9298-4C0F-8CE9-CFF3C5C55231}" destId="{E2F7D3FD-B24D-4B66-AB79-BAD4151558CC}" srcOrd="1" destOrd="0" presId="urn:microsoft.com/office/officeart/2005/8/layout/process4"/>
    <dgm:cxn modelId="{6FB7CA1D-7D30-434B-B1EC-7F8037C5A2FF}" type="presParOf" srcId="{0CA797EA-9298-4C0F-8CE9-CFF3C5C55231}" destId="{540C3EBD-3B9E-40B4-8417-D5449B6B6936}" srcOrd="2" destOrd="0" presId="urn:microsoft.com/office/officeart/2005/8/layout/process4"/>
    <dgm:cxn modelId="{1E540668-E01D-4DD6-A207-FCAF1662FDD5}" type="presParOf" srcId="{0CA797EA-9298-4C0F-8CE9-CFF3C5C55231}" destId="{09C8583E-20CF-47ED-9436-9EBABE67F122}" srcOrd="3" destOrd="0" presId="urn:microsoft.com/office/officeart/2005/8/layout/process4"/>
    <dgm:cxn modelId="{FCE12B7E-4145-4CCD-BE6F-B523502DDE93}" type="presParOf" srcId="{0CA797EA-9298-4C0F-8CE9-CFF3C5C55231}" destId="{59B96B40-87BD-4CA3-BD0D-EE7DF85AEAA9}" srcOrd="4" destOrd="0" presId="urn:microsoft.com/office/officeart/2005/8/layout/process4"/>
    <dgm:cxn modelId="{29D7871F-D320-492D-8314-88D241F03853}" type="presParOf" srcId="{0CA797EA-9298-4C0F-8CE9-CFF3C5C55231}" destId="{3BF06948-8625-4155-90D7-29817226FAA9}" srcOrd="5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51BAF3-739F-4D40-A116-859B2DEFCA25}">
      <dsp:nvSpPr>
        <dsp:cNvPr id="0" name=""/>
        <dsp:cNvSpPr/>
      </dsp:nvSpPr>
      <dsp:spPr>
        <a:xfrm>
          <a:off x="0" y="2862100"/>
          <a:ext cx="10765410" cy="93940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Assume breach </a:t>
          </a:r>
          <a:r>
            <a:rPr lang="en-IN" sz="28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(Limit damage by)</a:t>
          </a:r>
        </a:p>
      </dsp:txBody>
      <dsp:txXfrm>
        <a:off x="0" y="2862100"/>
        <a:ext cx="10765410" cy="507278"/>
      </dsp:txXfrm>
    </dsp:sp>
    <dsp:sp modelId="{511BF7B3-7109-4E30-9A3E-5B31B142D4C1}">
      <dsp:nvSpPr>
        <dsp:cNvPr id="0" name=""/>
        <dsp:cNvSpPr/>
      </dsp:nvSpPr>
      <dsp:spPr>
        <a:xfrm>
          <a:off x="1314" y="3350591"/>
          <a:ext cx="2152556" cy="43212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Minimizing blast radius</a:t>
          </a:r>
        </a:p>
      </dsp:txBody>
      <dsp:txXfrm>
        <a:off x="1314" y="3350591"/>
        <a:ext cx="2152556" cy="432126"/>
      </dsp:txXfrm>
    </dsp:sp>
    <dsp:sp modelId="{FAF53D3F-4BF0-434A-BCEA-CF84685F553B}">
      <dsp:nvSpPr>
        <dsp:cNvPr id="0" name=""/>
        <dsp:cNvSpPr/>
      </dsp:nvSpPr>
      <dsp:spPr>
        <a:xfrm>
          <a:off x="2153870" y="3350591"/>
          <a:ext cx="2152556" cy="432126"/>
        </a:xfrm>
        <a:prstGeom prst="rect">
          <a:avLst/>
        </a:prstGeom>
        <a:solidFill>
          <a:schemeClr val="accent2">
            <a:tint val="40000"/>
            <a:alpha val="90000"/>
            <a:hueOff val="-60659"/>
            <a:satOff val="-5382"/>
            <a:lumOff val="-5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60659"/>
              <a:satOff val="-5382"/>
              <a:lumOff val="-5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Segmenting access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153870" y="3350591"/>
        <a:ext cx="2152556" cy="432126"/>
      </dsp:txXfrm>
    </dsp:sp>
    <dsp:sp modelId="{320DBFA3-9A99-43EC-B867-27A67E3B69B4}">
      <dsp:nvSpPr>
        <dsp:cNvPr id="0" name=""/>
        <dsp:cNvSpPr/>
      </dsp:nvSpPr>
      <dsp:spPr>
        <a:xfrm>
          <a:off x="4306426" y="3350591"/>
          <a:ext cx="2152556" cy="432126"/>
        </a:xfrm>
        <a:prstGeom prst="rect">
          <a:avLst/>
        </a:prstGeom>
        <a:solidFill>
          <a:schemeClr val="accent2">
            <a:tint val="40000"/>
            <a:alpha val="90000"/>
            <a:hueOff val="-121318"/>
            <a:satOff val="-10764"/>
            <a:lumOff val="-11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21318"/>
              <a:satOff val="-10764"/>
              <a:lumOff val="-11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End‑to‑end encryption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4306426" y="3350591"/>
        <a:ext cx="2152556" cy="432126"/>
      </dsp:txXfrm>
    </dsp:sp>
    <dsp:sp modelId="{181B801B-B2F0-4F72-B7AF-DFAE5BA84C11}">
      <dsp:nvSpPr>
        <dsp:cNvPr id="0" name=""/>
        <dsp:cNvSpPr/>
      </dsp:nvSpPr>
      <dsp:spPr>
        <a:xfrm>
          <a:off x="6458983" y="3350591"/>
          <a:ext cx="2152556" cy="432126"/>
        </a:xfrm>
        <a:prstGeom prst="rect">
          <a:avLst/>
        </a:prstGeom>
        <a:solidFill>
          <a:schemeClr val="accent2">
            <a:tint val="40000"/>
            <a:alpha val="90000"/>
            <a:hueOff val="-181977"/>
            <a:satOff val="-16146"/>
            <a:lumOff val="-16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181977"/>
              <a:satOff val="-16146"/>
              <a:lumOff val="-16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Analytics for visibility &amp; detection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6458983" y="3350591"/>
        <a:ext cx="2152556" cy="432126"/>
      </dsp:txXfrm>
    </dsp:sp>
    <dsp:sp modelId="{6A963911-246B-41B8-AD47-50FEC452FCA7}">
      <dsp:nvSpPr>
        <dsp:cNvPr id="0" name=""/>
        <dsp:cNvSpPr/>
      </dsp:nvSpPr>
      <dsp:spPr>
        <a:xfrm>
          <a:off x="8611539" y="3350591"/>
          <a:ext cx="2152556" cy="432126"/>
        </a:xfrm>
        <a:prstGeom prst="rect">
          <a:avLst/>
        </a:prstGeom>
        <a:solidFill>
          <a:schemeClr val="accent2">
            <a:tint val="40000"/>
            <a:alpha val="90000"/>
            <a:hueOff val="-242636"/>
            <a:satOff val="-21527"/>
            <a:lumOff val="-22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242636"/>
              <a:satOff val="-21527"/>
              <a:lumOff val="-22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b="0" kern="1200" cap="none" spc="0">
            <a:ln w="0"/>
            <a:solidFill>
              <a:schemeClr val="tx1"/>
            </a:solidFill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8611539" y="3350591"/>
        <a:ext cx="2152556" cy="432126"/>
      </dsp:txXfrm>
    </dsp:sp>
    <dsp:sp modelId="{5F87533C-6CD3-4113-A60F-20D251DCF011}">
      <dsp:nvSpPr>
        <dsp:cNvPr id="0" name=""/>
        <dsp:cNvSpPr/>
      </dsp:nvSpPr>
      <dsp:spPr>
        <a:xfrm rot="10800000">
          <a:off x="0" y="1431386"/>
          <a:ext cx="10765410" cy="1444805"/>
        </a:xfrm>
        <a:prstGeom prst="upArrowCallou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Use least privileged access </a:t>
          </a:r>
          <a:r>
            <a:rPr lang="en-IN" sz="28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(Restrict access with)</a:t>
          </a:r>
        </a:p>
      </dsp:txBody>
      <dsp:txXfrm rot="-10800000">
        <a:off x="0" y="1431386"/>
        <a:ext cx="10765410" cy="507126"/>
      </dsp:txXfrm>
    </dsp:sp>
    <dsp:sp modelId="{A2EC438B-EA44-4C36-BFBB-1BE94C81D91C}">
      <dsp:nvSpPr>
        <dsp:cNvPr id="0" name=""/>
        <dsp:cNvSpPr/>
      </dsp:nvSpPr>
      <dsp:spPr>
        <a:xfrm>
          <a:off x="0" y="1938513"/>
          <a:ext cx="2691352" cy="431996"/>
        </a:xfrm>
        <a:prstGeom prst="rect">
          <a:avLst/>
        </a:prstGeom>
        <a:solidFill>
          <a:schemeClr val="accent2">
            <a:tint val="40000"/>
            <a:alpha val="90000"/>
            <a:hueOff val="-303295"/>
            <a:satOff val="-26909"/>
            <a:lumOff val="-27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303295"/>
              <a:satOff val="-26909"/>
              <a:lumOff val="-27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Just‑In‑Time (JIT) access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0" y="1938513"/>
        <a:ext cx="2691352" cy="431996"/>
      </dsp:txXfrm>
    </dsp:sp>
    <dsp:sp modelId="{65E0AAB2-FA57-40EA-8268-14C8AE06E519}">
      <dsp:nvSpPr>
        <dsp:cNvPr id="0" name=""/>
        <dsp:cNvSpPr/>
      </dsp:nvSpPr>
      <dsp:spPr>
        <a:xfrm>
          <a:off x="2691352" y="1938513"/>
          <a:ext cx="2691352" cy="431996"/>
        </a:xfrm>
        <a:prstGeom prst="rect">
          <a:avLst/>
        </a:prstGeom>
        <a:solidFill>
          <a:schemeClr val="accent2">
            <a:tint val="40000"/>
            <a:alpha val="90000"/>
            <a:hueOff val="-363954"/>
            <a:satOff val="-32291"/>
            <a:lumOff val="-33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363954"/>
              <a:satOff val="-32291"/>
              <a:lumOff val="-33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Just‑Enough‑Access (JEA)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2691352" y="1938513"/>
        <a:ext cx="2691352" cy="431996"/>
      </dsp:txXfrm>
    </dsp:sp>
    <dsp:sp modelId="{135FECF6-69DD-4BF5-8647-ECEE6D09642D}">
      <dsp:nvSpPr>
        <dsp:cNvPr id="0" name=""/>
        <dsp:cNvSpPr/>
      </dsp:nvSpPr>
      <dsp:spPr>
        <a:xfrm>
          <a:off x="5382705" y="1938513"/>
          <a:ext cx="2691352" cy="431996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Risk‑based adaptive policies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5382705" y="1938513"/>
        <a:ext cx="2691352" cy="431996"/>
      </dsp:txXfrm>
    </dsp:sp>
    <dsp:sp modelId="{D949C1B6-A56B-4B99-B8F2-9EE0F1955017}">
      <dsp:nvSpPr>
        <dsp:cNvPr id="0" name=""/>
        <dsp:cNvSpPr/>
      </dsp:nvSpPr>
      <dsp:spPr>
        <a:xfrm>
          <a:off x="8074057" y="1938513"/>
          <a:ext cx="2691352" cy="431996"/>
        </a:xfrm>
        <a:prstGeom prst="rect">
          <a:avLst/>
        </a:prstGeom>
        <a:solidFill>
          <a:schemeClr val="accent2">
            <a:tint val="40000"/>
            <a:alpha val="90000"/>
            <a:hueOff val="-485272"/>
            <a:satOff val="-43055"/>
            <a:lumOff val="-43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485272"/>
              <a:satOff val="-43055"/>
              <a:lumOff val="-43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Data protection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8074057" y="1938513"/>
        <a:ext cx="2691352" cy="431996"/>
      </dsp:txXfrm>
    </dsp:sp>
    <dsp:sp modelId="{76B41AA5-3248-4042-B504-14A51439CDFF}">
      <dsp:nvSpPr>
        <dsp:cNvPr id="0" name=""/>
        <dsp:cNvSpPr/>
      </dsp:nvSpPr>
      <dsp:spPr>
        <a:xfrm rot="10800000">
          <a:off x="0" y="672"/>
          <a:ext cx="10765410" cy="1444805"/>
        </a:xfrm>
        <a:prstGeom prst="upArrowCallou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99136" tIns="199136" rIns="199136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Verify explicitly </a:t>
          </a:r>
          <a:r>
            <a:rPr lang="en-IN" sz="28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(</a:t>
          </a:r>
          <a:r>
            <a:rPr lang="en-US" sz="28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Authenticate and authorize every request using)</a:t>
          </a:r>
          <a:endParaRPr lang="en-IN" sz="28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 rot="-10800000">
        <a:off x="0" y="672"/>
        <a:ext cx="10765410" cy="507126"/>
      </dsp:txXfrm>
    </dsp:sp>
    <dsp:sp modelId="{CC7642B1-B4DF-40E3-9DE9-ED353DA4738F}">
      <dsp:nvSpPr>
        <dsp:cNvPr id="0" name=""/>
        <dsp:cNvSpPr/>
      </dsp:nvSpPr>
      <dsp:spPr>
        <a:xfrm>
          <a:off x="5256" y="507798"/>
          <a:ext cx="1792482" cy="431996"/>
        </a:xfrm>
        <a:prstGeom prst="rect">
          <a:avLst/>
        </a:prstGeom>
        <a:solidFill>
          <a:schemeClr val="accent2">
            <a:tint val="40000"/>
            <a:alpha val="90000"/>
            <a:hueOff val="-545931"/>
            <a:satOff val="-48437"/>
            <a:lumOff val="-494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545931"/>
              <a:satOff val="-48437"/>
              <a:lumOff val="-49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User identity</a:t>
          </a:r>
        </a:p>
      </dsp:txBody>
      <dsp:txXfrm>
        <a:off x="5256" y="507798"/>
        <a:ext cx="1792482" cy="431996"/>
      </dsp:txXfrm>
    </dsp:sp>
    <dsp:sp modelId="{E2F7D3FD-B24D-4B66-AB79-BAD4151558CC}">
      <dsp:nvSpPr>
        <dsp:cNvPr id="0" name=""/>
        <dsp:cNvSpPr/>
      </dsp:nvSpPr>
      <dsp:spPr>
        <a:xfrm>
          <a:off x="1797739" y="507798"/>
          <a:ext cx="1792482" cy="431996"/>
        </a:xfrm>
        <a:prstGeom prst="rect">
          <a:avLst/>
        </a:prstGeom>
        <a:solidFill>
          <a:schemeClr val="accent2">
            <a:tint val="40000"/>
            <a:alpha val="90000"/>
            <a:hueOff val="-606590"/>
            <a:satOff val="-53819"/>
            <a:lumOff val="-54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606590"/>
              <a:satOff val="-53819"/>
              <a:lumOff val="-54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Location</a:t>
          </a:r>
        </a:p>
      </dsp:txBody>
      <dsp:txXfrm>
        <a:off x="1797739" y="507798"/>
        <a:ext cx="1792482" cy="431996"/>
      </dsp:txXfrm>
    </dsp:sp>
    <dsp:sp modelId="{540C3EBD-3B9E-40B4-8417-D5449B6B6936}">
      <dsp:nvSpPr>
        <dsp:cNvPr id="0" name=""/>
        <dsp:cNvSpPr/>
      </dsp:nvSpPr>
      <dsp:spPr>
        <a:xfrm>
          <a:off x="3590222" y="507798"/>
          <a:ext cx="1792482" cy="431996"/>
        </a:xfrm>
        <a:prstGeom prst="rect">
          <a:avLst/>
        </a:prstGeom>
        <a:solidFill>
          <a:schemeClr val="accent2">
            <a:tint val="40000"/>
            <a:alpha val="90000"/>
            <a:hueOff val="-667249"/>
            <a:satOff val="-59200"/>
            <a:lumOff val="-604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667249"/>
              <a:satOff val="-59200"/>
              <a:lumOff val="-60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Device health</a:t>
          </a:r>
        </a:p>
      </dsp:txBody>
      <dsp:txXfrm>
        <a:off x="3590222" y="507798"/>
        <a:ext cx="1792482" cy="431996"/>
      </dsp:txXfrm>
    </dsp:sp>
    <dsp:sp modelId="{09C8583E-20CF-47ED-9436-9EBABE67F122}">
      <dsp:nvSpPr>
        <dsp:cNvPr id="0" name=""/>
        <dsp:cNvSpPr/>
      </dsp:nvSpPr>
      <dsp:spPr>
        <a:xfrm>
          <a:off x="5382705" y="507798"/>
          <a:ext cx="1792482" cy="431996"/>
        </a:xfrm>
        <a:prstGeom prst="rect">
          <a:avLst/>
        </a:prstGeom>
        <a:solidFill>
          <a:schemeClr val="accent2">
            <a:tint val="40000"/>
            <a:alpha val="90000"/>
            <a:hueOff val="-727908"/>
            <a:satOff val="-64582"/>
            <a:lumOff val="-65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727908"/>
              <a:satOff val="-64582"/>
              <a:lumOff val="-65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Service/workload</a:t>
          </a:r>
        </a:p>
      </dsp:txBody>
      <dsp:txXfrm>
        <a:off x="5382705" y="507798"/>
        <a:ext cx="1792482" cy="431996"/>
      </dsp:txXfrm>
    </dsp:sp>
    <dsp:sp modelId="{59B96B40-87BD-4CA3-BD0D-EE7DF85AEAA9}">
      <dsp:nvSpPr>
        <dsp:cNvPr id="0" name=""/>
        <dsp:cNvSpPr/>
      </dsp:nvSpPr>
      <dsp:spPr>
        <a:xfrm>
          <a:off x="7175187" y="507798"/>
          <a:ext cx="1792482" cy="431996"/>
        </a:xfrm>
        <a:prstGeom prst="rect">
          <a:avLst/>
        </a:prstGeom>
        <a:solidFill>
          <a:schemeClr val="accent2">
            <a:tint val="40000"/>
            <a:alpha val="90000"/>
            <a:hueOff val="-788567"/>
            <a:satOff val="-69964"/>
            <a:lumOff val="-714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788567"/>
              <a:satOff val="-69964"/>
              <a:lumOff val="-714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Data classification</a:t>
          </a:r>
        </a:p>
      </dsp:txBody>
      <dsp:txXfrm>
        <a:off x="7175187" y="507798"/>
        <a:ext cx="1792482" cy="431996"/>
      </dsp:txXfrm>
    </dsp:sp>
    <dsp:sp modelId="{3BF06948-8625-4155-90D7-29817226FAA9}">
      <dsp:nvSpPr>
        <dsp:cNvPr id="0" name=""/>
        <dsp:cNvSpPr/>
      </dsp:nvSpPr>
      <dsp:spPr>
        <a:xfrm>
          <a:off x="8967670" y="507798"/>
          <a:ext cx="1792482" cy="431996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85344" tIns="15240" rIns="85344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kern="1200" cap="none" spc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rPr>
            <a:t>Anomalies</a:t>
          </a:r>
          <a:endParaRPr lang="en-IN" sz="1200" b="0" kern="1200" cap="none" spc="0" dirty="0">
            <a:ln w="0"/>
            <a:effectLst>
              <a:outerShdw blurRad="38100" dist="19050" dir="2700000" algn="tl" rotWithShape="0">
                <a:schemeClr val="dk1">
                  <a:alpha val="40000"/>
                </a:schemeClr>
              </a:outerShdw>
            </a:effectLst>
          </a:endParaRPr>
        </a:p>
      </dsp:txBody>
      <dsp:txXfrm>
        <a:off x="8967670" y="507798"/>
        <a:ext cx="1792482" cy="431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51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734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2595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465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968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47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4552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9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4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43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337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F7BC9-ABC2-461A-A1DD-62A7ECF42F4D}" type="datetimeFigureOut">
              <a:rPr lang="en-IN" smtClean="0"/>
              <a:t>31-12-2025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2506B-562D-4214-A1C2-442AAA761A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5546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868B-F90F-F022-62A9-0E68319F0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Microsoft Cyber Security Architect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00C4E-958E-CE9C-B83E-0F911212E4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SC100</a:t>
            </a:r>
          </a:p>
        </p:txBody>
      </p:sp>
    </p:spTree>
    <p:extLst>
      <p:ext uri="{BB962C8B-B14F-4D97-AF65-F5344CB8AC3E}">
        <p14:creationId xmlns:p14="http://schemas.microsoft.com/office/powerpoint/2010/main" val="1995800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1287C-48E2-4814-83C4-87967869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this role will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E4626-FD4E-3985-53A5-253AC06FD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This role is pivotal because it moves beyond just "</a:t>
            </a:r>
            <a:r>
              <a:rPr lang="en-US" dirty="0">
                <a:solidFill>
                  <a:srgbClr val="0070C0"/>
                </a:solidFill>
              </a:rPr>
              <a:t>managing tools</a:t>
            </a:r>
            <a:r>
              <a:rPr lang="en-US" dirty="0"/>
              <a:t>" to </a:t>
            </a:r>
            <a:r>
              <a:rPr lang="en-US" dirty="0">
                <a:solidFill>
                  <a:srgbClr val="0070C0"/>
                </a:solidFill>
              </a:rPr>
              <a:t>designing a cohesive ecosystem </a:t>
            </a:r>
            <a:r>
              <a:rPr lang="en-US" dirty="0"/>
              <a:t>that treats security as a business enabler rather than a roadblock.</a:t>
            </a:r>
          </a:p>
          <a:p>
            <a:r>
              <a:rPr lang="en-US" dirty="0"/>
              <a:t>To fulfill this role effectively, you essentially act as the </a:t>
            </a:r>
            <a:r>
              <a:rPr lang="en-US" dirty="0">
                <a:solidFill>
                  <a:srgbClr val="0070C0"/>
                </a:solidFill>
              </a:rPr>
              <a:t>bridge</a:t>
            </a:r>
            <a:r>
              <a:rPr lang="en-US" dirty="0"/>
              <a:t> between </a:t>
            </a:r>
            <a:r>
              <a:rPr lang="en-US" dirty="0">
                <a:solidFill>
                  <a:srgbClr val="0070C0"/>
                </a:solidFill>
              </a:rPr>
              <a:t>high-level business risk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low-level technical implementation</a:t>
            </a:r>
            <a:r>
              <a:rPr lang="en-US" dirty="0"/>
              <a:t>.</a:t>
            </a:r>
          </a:p>
          <a:p>
            <a:r>
              <a:rPr lang="en-US" dirty="0"/>
              <a:t>In this role, your </a:t>
            </a:r>
            <a:r>
              <a:rPr lang="en-US" dirty="0">
                <a:solidFill>
                  <a:srgbClr val="0070C0"/>
                </a:solidFill>
              </a:rPr>
              <a:t>design philosophy </a:t>
            </a:r>
            <a:r>
              <a:rPr lang="en-US" dirty="0"/>
              <a:t>is anchored by the </a:t>
            </a:r>
            <a:r>
              <a:rPr lang="en-US" b="1" dirty="0">
                <a:solidFill>
                  <a:srgbClr val="7030A0"/>
                </a:solidFill>
              </a:rPr>
              <a:t>Microsoft Cybersecurity Reference Architectures (MCRA)</a:t>
            </a:r>
            <a:r>
              <a:rPr lang="en-US" dirty="0"/>
              <a:t>. </a:t>
            </a:r>
          </a:p>
          <a:p>
            <a:r>
              <a:rPr lang="en-US" dirty="0"/>
              <a:t>This framework outlines how </a:t>
            </a:r>
            <a:r>
              <a:rPr lang="en-US" dirty="0">
                <a:solidFill>
                  <a:srgbClr val="0070C0"/>
                </a:solidFill>
              </a:rPr>
              <a:t>Microsoft security capabilities integrate</a:t>
            </a:r>
            <a:r>
              <a:rPr lang="en-US" dirty="0"/>
              <a:t> with </a:t>
            </a:r>
            <a:r>
              <a:rPr lang="en-US" dirty="0">
                <a:solidFill>
                  <a:srgbClr val="0070C0"/>
                </a:solidFill>
              </a:rPr>
              <a:t>each other </a:t>
            </a:r>
            <a:r>
              <a:rPr lang="en-US" dirty="0"/>
              <a:t>and with third-party platforms.</a:t>
            </a:r>
          </a:p>
          <a:p>
            <a:r>
              <a:rPr lang="en-US" dirty="0"/>
              <a:t>This role is unique because it demands both </a:t>
            </a:r>
            <a:r>
              <a:rPr lang="en-US" dirty="0">
                <a:solidFill>
                  <a:srgbClr val="0070C0"/>
                </a:solidFill>
              </a:rPr>
              <a:t>"big picture" strategic thinking </a:t>
            </a:r>
            <a:r>
              <a:rPr lang="en-US" dirty="0"/>
              <a:t>and </a:t>
            </a:r>
            <a:r>
              <a:rPr lang="en-US" dirty="0">
                <a:solidFill>
                  <a:srgbClr val="0070C0"/>
                </a:solidFill>
              </a:rPr>
              <a:t>deep technical fluency </a:t>
            </a:r>
            <a:r>
              <a:rPr lang="en-US" dirty="0"/>
              <a:t>across the entire </a:t>
            </a:r>
            <a:r>
              <a:rPr lang="en-US" dirty="0">
                <a:solidFill>
                  <a:srgbClr val="0070C0"/>
                </a:solidFill>
              </a:rPr>
              <a:t>Microsoft security stack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8247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17A5C-6C12-602A-A704-693CA02ED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9ED69-4C8B-6ED4-4FB8-856B1D668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this role will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46AA8-61EF-8351-F6C5-0E7DD381D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succeed in this capacity—and on the exam—you must shift from being a "</a:t>
            </a:r>
            <a:r>
              <a:rPr lang="en-US" b="1" dirty="0"/>
              <a:t>builder</a:t>
            </a:r>
            <a:r>
              <a:rPr lang="en-US" dirty="0"/>
              <a:t>" to being a "</a:t>
            </a:r>
            <a:r>
              <a:rPr lang="en-US" b="1" dirty="0"/>
              <a:t>designer</a:t>
            </a:r>
            <a:r>
              <a:rPr lang="en-US" dirty="0"/>
              <a:t>." You aren't just configuring a firewall; you are defining </a:t>
            </a:r>
            <a:r>
              <a:rPr lang="en-US" b="1" dirty="0"/>
              <a:t>how</a:t>
            </a:r>
            <a:r>
              <a:rPr lang="en-US" dirty="0"/>
              <a:t> that firewall </a:t>
            </a:r>
            <a:r>
              <a:rPr lang="en-US" b="1" dirty="0"/>
              <a:t>interacts</a:t>
            </a:r>
            <a:r>
              <a:rPr lang="en-US" dirty="0"/>
              <a:t> with identity signals, device health, and data sensitivity labels to create a cohesive defense.</a:t>
            </a:r>
          </a:p>
          <a:p>
            <a:r>
              <a:rPr lang="en-US" dirty="0"/>
              <a:t>As an architect, his work follows a lifecycle that bridges the gap between executive goals and engineering reality.</a:t>
            </a:r>
          </a:p>
          <a:p>
            <a:r>
              <a:rPr lang="en-IN" dirty="0"/>
              <a:t>Translating Business Requirements</a:t>
            </a:r>
          </a:p>
          <a:p>
            <a:r>
              <a:rPr lang="en-IN" dirty="0"/>
              <a:t>Cross-Functional Collaboration</a:t>
            </a:r>
          </a:p>
        </p:txBody>
      </p:sp>
    </p:spTree>
    <p:extLst>
      <p:ext uri="{BB962C8B-B14F-4D97-AF65-F5344CB8AC3E}">
        <p14:creationId xmlns:p14="http://schemas.microsoft.com/office/powerpoint/2010/main" val="3554487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81561-3A4C-616B-16C9-A1AB8D4A6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Translating Business Requirements: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CCD4E-7F85-31F2-1108-62DEB17BE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Business leaders care about </a:t>
            </a:r>
            <a:r>
              <a:rPr lang="en-US" b="1" dirty="0"/>
              <a:t>Risk, Compliance, and Continuity</a:t>
            </a:r>
            <a:r>
              <a:rPr lang="en-US" dirty="0"/>
              <a:t>. You translate those into:</a:t>
            </a:r>
          </a:p>
          <a:p>
            <a:r>
              <a:rPr lang="en-US" b="1" dirty="0"/>
              <a:t>Business Goal:</a:t>
            </a:r>
            <a:r>
              <a:rPr lang="en-US" dirty="0"/>
              <a:t> "We need to allow remote work without increasing data breach risk."</a:t>
            </a:r>
          </a:p>
          <a:p>
            <a:r>
              <a:rPr lang="en-US" b="1" dirty="0"/>
              <a:t>Architectural Response:</a:t>
            </a:r>
            <a:r>
              <a:rPr lang="en-US" dirty="0"/>
              <a:t> Design a </a:t>
            </a:r>
            <a:r>
              <a:rPr lang="en-US" b="1" dirty="0"/>
              <a:t>Conditional Access</a:t>
            </a:r>
            <a:r>
              <a:rPr lang="en-US" dirty="0"/>
              <a:t> framework that requires Phishing-Resistant MFA and a "Compliant" device state before granting access to sensitive SaaS apps.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0414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62ACB-EAD4-529E-20B8-53BA34CC0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Cross-Functional Collaboration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03B3-DE80-B1C5-1EEE-627998F0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serve as the "Security Diplomat" across these key teams: </a:t>
            </a:r>
          </a:p>
          <a:p>
            <a:r>
              <a:rPr lang="en-US" b="1" dirty="0"/>
              <a:t>Engineering/DevOps:</a:t>
            </a:r>
            <a:r>
              <a:rPr lang="en-US" dirty="0"/>
              <a:t> Integrating </a:t>
            </a:r>
            <a:r>
              <a:rPr lang="en-US" b="1" dirty="0"/>
              <a:t>Defender for DevOps</a:t>
            </a:r>
            <a:r>
              <a:rPr lang="en-US" dirty="0"/>
              <a:t> into CI/CD pipelines to catch secrets in code before they are pushed to production.</a:t>
            </a:r>
          </a:p>
          <a:p>
            <a:r>
              <a:rPr lang="en-US" b="1" dirty="0"/>
              <a:t>Privacy &amp; Legal:</a:t>
            </a:r>
            <a:r>
              <a:rPr lang="en-US" dirty="0"/>
              <a:t> Using </a:t>
            </a:r>
            <a:r>
              <a:rPr lang="en-US" b="1" dirty="0"/>
              <a:t>Microsoft Purview</a:t>
            </a:r>
            <a:r>
              <a:rPr lang="en-US" dirty="0"/>
              <a:t> to automate data discovery and ensure GDPR or CCPA compliance.</a:t>
            </a:r>
          </a:p>
          <a:p>
            <a:r>
              <a:rPr lang="en-US" b="1" dirty="0"/>
              <a:t>IT Operations:</a:t>
            </a:r>
            <a:r>
              <a:rPr lang="en-US" dirty="0"/>
              <a:t> Ensuring that security agents (like Defender for Endpoint) don't disrupt system performance or user productivity.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6393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DFE89-874B-6A20-F980-1BAD1B4FB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Domain Proficiency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1C9BE0-EB5D-C024-7424-B0FA0C578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188" y="1467406"/>
            <a:ext cx="10515600" cy="4351338"/>
          </a:xfrm>
        </p:spPr>
        <p:txBody>
          <a:bodyPr/>
          <a:lstStyle/>
          <a:p>
            <a:r>
              <a:rPr lang="en-US" dirty="0"/>
              <a:t>This role need to demonstrate "Expert" level knowledge in one area while maintaining a "Professional" level across the rest.</a:t>
            </a:r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914AD8-20DB-EA78-9145-E7AB6F130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1304"/>
              </p:ext>
            </p:extLst>
          </p:nvPr>
        </p:nvGraphicFramePr>
        <p:xfrm>
          <a:off x="1231217" y="2579769"/>
          <a:ext cx="9729566" cy="3823324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2275554">
                  <a:extLst>
                    <a:ext uri="{9D8B030D-6E8A-4147-A177-3AD203B41FA5}">
                      <a16:colId xmlns:a16="http://schemas.microsoft.com/office/drawing/2014/main" val="924477795"/>
                    </a:ext>
                  </a:extLst>
                </a:gridCol>
                <a:gridCol w="7454012">
                  <a:extLst>
                    <a:ext uri="{9D8B030D-6E8A-4147-A177-3AD203B41FA5}">
                      <a16:colId xmlns:a16="http://schemas.microsoft.com/office/drawing/2014/main" val="2840277643"/>
                    </a:ext>
                  </a:extLst>
                </a:gridCol>
              </a:tblGrid>
              <a:tr h="29160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Focus Area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Architectural Responsibility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111584"/>
                  </a:ext>
                </a:extLst>
              </a:tr>
              <a:tr h="49347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Identity &amp; Access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Designing a distributed identity model (B2B/B2C) and securing privileged accounts via PIM/PAM.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7075861"/>
                  </a:ext>
                </a:extLst>
              </a:tr>
              <a:tr h="6953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Security Operations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Designing a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Microsoft Sentinel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workspace that ingests high-value logs while optimizing for cost and "time-to-remediate."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6455148"/>
                  </a:ext>
                </a:extLst>
              </a:tr>
              <a:tr h="6953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Platform Protection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Architecting </a:t>
                      </a: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</a:rPr>
                        <a:t>Azure Landing Zones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with built-in guardrails (Azure Policy) to ensure every new resource is "secure by design."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9000958"/>
                  </a:ext>
                </a:extLst>
              </a:tr>
              <a:tr h="6953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>
                          <a:solidFill>
                            <a:srgbClr val="1F1F1F"/>
                          </a:solidFill>
                          <a:effectLst/>
                        </a:rPr>
                        <a:t>Data &amp; AI Security</a:t>
                      </a:r>
                      <a:endParaRPr lang="en-IN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Setting up data classification schemas in Purview and securing </a:t>
                      </a:r>
                      <a:r>
                        <a:rPr lang="en-US" sz="1800" b="1">
                          <a:solidFill>
                            <a:srgbClr val="1F1F1F"/>
                          </a:solidFill>
                          <a:effectLst/>
                        </a:rPr>
                        <a:t>Microsoft 365 Copilot</a:t>
                      </a:r>
                      <a:r>
                        <a:rPr lang="en-US" sz="1800">
                          <a:solidFill>
                            <a:srgbClr val="1F1F1F"/>
                          </a:solidFill>
                          <a:effectLst/>
                        </a:rPr>
                        <a:t> through "Just-Enough-Access" to internal data.</a:t>
                      </a:r>
                      <a:endParaRPr lang="en-US" sz="18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554027"/>
                  </a:ext>
                </a:extLst>
              </a:tr>
              <a:tr h="6953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800" b="1" dirty="0">
                          <a:solidFill>
                            <a:srgbClr val="1F1F1F"/>
                          </a:solidFill>
                          <a:effectLst/>
                        </a:rPr>
                        <a:t>Hybrid &amp; Multi-cloud</a:t>
                      </a:r>
                      <a:endParaRPr lang="en-IN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Using </a:t>
                      </a:r>
                      <a:r>
                        <a:rPr lang="en-US" sz="1800" b="1" dirty="0">
                          <a:solidFill>
                            <a:srgbClr val="1F1F1F"/>
                          </a:solidFill>
                          <a:effectLst/>
                        </a:rPr>
                        <a:t>Azure Arc</a:t>
                      </a:r>
                      <a:r>
                        <a:rPr lang="en-US" sz="1800" dirty="0">
                          <a:solidFill>
                            <a:srgbClr val="1F1F1F"/>
                          </a:solidFill>
                          <a:effectLst/>
                        </a:rPr>
                        <a:t> to extend Microsoft Defender and governance policies to AWS, GCP, or on-premises servers.</a:t>
                      </a:r>
                      <a:endParaRPr lang="en-US" sz="18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2101" marR="82101" marT="54734" marB="5473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53621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191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D0126-51FC-387C-1981-BE83D3579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Frameworks to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9ACC6-3EF1-45A7-2FB0-995969675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validate your experience during the exam and in the field, you should be intimately familiar with:</a:t>
            </a:r>
          </a:p>
          <a:p>
            <a:r>
              <a:rPr lang="en-US" b="1" dirty="0"/>
              <a:t>Microsoft Cybersecurity Reference Architecture (MCRA): </a:t>
            </a:r>
            <a:r>
              <a:rPr lang="en-US" dirty="0"/>
              <a:t>The "master map" of how all Microsoft security components connect.</a:t>
            </a:r>
          </a:p>
          <a:p>
            <a:r>
              <a:rPr lang="en-US" b="1" dirty="0"/>
              <a:t>Cloud Adoption Framework (CAF): </a:t>
            </a:r>
            <a:r>
              <a:rPr lang="en-US" dirty="0"/>
              <a:t>Specifically, the "Secure" methodology for migrating workloads.</a:t>
            </a:r>
          </a:p>
          <a:p>
            <a:r>
              <a:rPr lang="en-US" b="1" dirty="0"/>
              <a:t>Well-Architected Framework (WAF): </a:t>
            </a:r>
            <a:r>
              <a:rPr lang="en-US" dirty="0"/>
              <a:t>The Security Pillar guidelines for building resilient cloud applications.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2175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E682-0C1E-D783-DF5F-71B4F794E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Pillars of the Microsoft Cybersecurity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B64F2-0EEA-5401-9F62-AE0C51AB0D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Zero Trust Foundation</a:t>
            </a:r>
          </a:p>
          <a:p>
            <a:r>
              <a:rPr lang="en-IN" dirty="0"/>
              <a:t>Strategic Domain Design</a:t>
            </a:r>
          </a:p>
          <a:p>
            <a:r>
              <a:rPr lang="en-US" dirty="0"/>
              <a:t>Governance, Risk, and Compliance (GRC)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686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EF3A-534B-F2A6-6755-D1999BFD5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</a:t>
            </a:r>
            <a:r>
              <a:rPr lang="en-US" b="1" dirty="0"/>
              <a:t>Architect</a:t>
            </a:r>
            <a:r>
              <a:rPr lang="en-US" dirty="0"/>
              <a:t>" Mindset: From Strategy to Capability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960E4-1A2F-8A46-6F1A-0D0E0897E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translate a strategy, you aren't just deploying software; you are building a </a:t>
            </a:r>
            <a:r>
              <a:rPr lang="en-US" b="1" dirty="0"/>
              <a:t>Security Posture</a:t>
            </a:r>
            <a:r>
              <a:rPr lang="en-US" dirty="0"/>
              <a:t>. This means:</a:t>
            </a:r>
          </a:p>
          <a:p>
            <a:r>
              <a:rPr lang="en-US" b="1" dirty="0"/>
              <a:t>Continuous Assessment</a:t>
            </a:r>
            <a:r>
              <a:rPr lang="en-US" dirty="0"/>
              <a:t>: Using tools like Secure Score to measure and prioritize improvements.</a:t>
            </a:r>
          </a:p>
          <a:p>
            <a:r>
              <a:rPr lang="en-US" b="1" dirty="0"/>
              <a:t>Rationalization</a:t>
            </a:r>
            <a:r>
              <a:rPr lang="en-US" dirty="0"/>
              <a:t>: Looking at an organization's existing tools and deciding what to keep, what to retire, and how to integrate them to reduce "swivel-chair" security for analysts.</a:t>
            </a:r>
          </a:p>
          <a:p>
            <a:r>
              <a:rPr lang="en-US" b="1" dirty="0"/>
              <a:t>Resilience</a:t>
            </a:r>
            <a:r>
              <a:rPr lang="en-US" dirty="0"/>
              <a:t>: Designing systems that can not only prevent attacks but also recover quickly through automated orchestration and response.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3680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5A332-AD69-8236-A957-78565C30E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Security Operations and Compliance through Microsoft Defender and Sentinel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3F12A-EE00-9ED5-D059-DC5DAD961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Design the Security Operations (SecOps) Strategy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Design the Compliance Strategy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The Unified Architecture Map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Architectural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169559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762B3-131E-D710-93E1-4B4BC5A8D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the Security Operations (SecOps) Strategy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BDE8E-04F6-F33A-34A6-2A60B9A5A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is to move from reactive alerting to proactive threat hunting and automated response.</a:t>
            </a:r>
          </a:p>
          <a:p>
            <a:r>
              <a:rPr lang="en-US" dirty="0"/>
              <a:t>Phase A: The Unified Data Lake</a:t>
            </a:r>
          </a:p>
          <a:p>
            <a:r>
              <a:rPr lang="en-US" dirty="0"/>
              <a:t>Phase B: Extended Detection and Response (XDR)</a:t>
            </a:r>
          </a:p>
          <a:p>
            <a:r>
              <a:rPr lang="en-IN" dirty="0"/>
              <a:t>Phase C: Automation &amp; Orchestration (SOAR)</a:t>
            </a:r>
          </a:p>
        </p:txBody>
      </p:sp>
    </p:spTree>
    <p:extLst>
      <p:ext uri="{BB962C8B-B14F-4D97-AF65-F5344CB8AC3E}">
        <p14:creationId xmlns:p14="http://schemas.microsoft.com/office/powerpoint/2010/main" val="893845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E701-A8F9-0732-955D-227ADD1DA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A: The Unified Data Lake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7ACB1-4B8C-518C-741D-5A1DD65481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Centralize with Strategy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Do not ingest everything into Sentinel. </a:t>
            </a:r>
          </a:p>
          <a:p>
            <a:pPr lvl="1"/>
            <a:r>
              <a:rPr lang="en-US" dirty="0"/>
              <a:t>Use the "Telemetry-First" approach:</a:t>
            </a:r>
          </a:p>
          <a:p>
            <a:r>
              <a:rPr lang="en-US" b="1" dirty="0"/>
              <a:t>High-Value Logs</a:t>
            </a:r>
            <a:r>
              <a:rPr lang="en-US" dirty="0"/>
              <a:t>: (Entra ID, Defender Alerts, Office 365) go to Sentinel for correlation.</a:t>
            </a:r>
          </a:p>
          <a:p>
            <a:r>
              <a:rPr lang="en-US" b="1" dirty="0"/>
              <a:t>Verbose/Compliance Logs</a:t>
            </a:r>
            <a:r>
              <a:rPr lang="en-US" dirty="0"/>
              <a:t>: (Firewall traffic, DNS) go to Azure Data Explorer (ADX) or a basic Log Analytics tier to save costs.</a:t>
            </a:r>
          </a:p>
          <a:p>
            <a:r>
              <a:rPr lang="en-US" b="1" dirty="0"/>
              <a:t>Workspace Architecture</a:t>
            </a:r>
            <a:r>
              <a:rPr lang="en-US" dirty="0"/>
              <a:t>: Use a single primary Sentinel workspace whenever possible to enable the best AI correlation and a unified incident queue.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854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3D3BC-0C80-1D12-CCEF-B14DC8CA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B: Extended Detection and Response (XDR)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6A574-C73F-3B39-D702-63C36FD4B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Microsoft Defender XDR: </a:t>
            </a:r>
            <a:r>
              <a:rPr lang="en-US" dirty="0"/>
              <a:t>Implement the full suite (Endpoint, Identity, Office 365, Cloud Apps). XDR provides the "pre-correlated" incidents.</a:t>
            </a:r>
          </a:p>
          <a:p>
            <a:r>
              <a:rPr lang="en-US" b="1" dirty="0"/>
              <a:t>Automatic Attack Disruption: </a:t>
            </a:r>
            <a:r>
              <a:rPr lang="en-US" dirty="0"/>
              <a:t>Enable this feature in the Defender portal. It uses high-fidelity signals to automatically contain compromised entities (like disabling a user account or isolating a device) in real-time.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94827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F9CB-E1F2-9929-1291-91D59E74F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Phase C: Automation &amp; Orchestration (SOAR)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EB94A-35FC-4A9E-F567-EB3021054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Automation Rules: </a:t>
            </a:r>
            <a:r>
              <a:rPr lang="en-US" dirty="0"/>
              <a:t>Use these for simple tasks like changing incident severity or assigning owners.</a:t>
            </a:r>
          </a:p>
          <a:p>
            <a:r>
              <a:rPr lang="en-US" b="1" dirty="0"/>
              <a:t>Playbooks (Logic Apps): </a:t>
            </a:r>
            <a:r>
              <a:rPr lang="en-US" dirty="0"/>
              <a:t>Design playbooks for complex workflows, such as enrichment (checking an IP against VirusTotal) or remediation (requesting manager approval before a remote wipe).</a:t>
            </a:r>
          </a:p>
          <a:p>
            <a:r>
              <a:rPr lang="en-US" b="1" dirty="0"/>
              <a:t>Security Copilot: </a:t>
            </a:r>
            <a:r>
              <a:rPr lang="en-US" dirty="0"/>
              <a:t>Integrate GenAI to help analysts summarize incidents and generate KQL (Kusto Query Language) scripts for hunting.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0856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CC2DD-D0F6-B491-E581-1F0D56DE2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the Compliance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09181-0160-140F-3FE6-A8C42DBE0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Compliance is </a:t>
            </a:r>
            <a:r>
              <a:rPr lang="en-US" sz="2400" b="1" dirty="0"/>
              <a:t>no longer a yearly audit</a:t>
            </a:r>
            <a:r>
              <a:rPr lang="en-US" sz="2400" dirty="0"/>
              <a:t>; it is a </a:t>
            </a:r>
            <a:r>
              <a:rPr lang="en-US" sz="2400" b="1" dirty="0"/>
              <a:t>real-time</a:t>
            </a:r>
            <a:r>
              <a:rPr lang="en-US" sz="2400" dirty="0"/>
              <a:t> architectural requirement.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Monitoring Posture with Defender for Cloud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/>
              <a:t>Microsoft Cloud Security Benchmark (MCSB): </a:t>
            </a:r>
            <a:r>
              <a:rPr lang="en-US" sz="2000" dirty="0"/>
              <a:t>Use this as your </a:t>
            </a:r>
            <a:r>
              <a:rPr lang="en-US" sz="2000" b="1" dirty="0"/>
              <a:t>primary technical baseline</a:t>
            </a:r>
            <a:r>
              <a:rPr lang="en-US" sz="2000" dirty="0"/>
              <a:t>. It maps Microsoft security controls to frameworks like NIST and CIS.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/>
              <a:t>Regulatory Compliance Dashboard</a:t>
            </a:r>
            <a:r>
              <a:rPr lang="en-US" sz="2000" dirty="0"/>
              <a:t>: Enable specific standards (e.g., ISO 27001, HIPAA, SOC 2). Defender for Cloud will continuously audit your environment and provide a "pass/fail" status for each control.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Data Governance with Microsoft Purview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/>
              <a:t>Sensitive Information Types (SITs): </a:t>
            </a:r>
            <a:r>
              <a:rPr lang="en-US" sz="2000" dirty="0"/>
              <a:t>Align your Sentinel alerts with your Purview labels. For example, if a "Highly Confidential" file is shared externally, trigger a Sentinel incident.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b="1" dirty="0"/>
              <a:t>Audit Logging: </a:t>
            </a:r>
            <a:r>
              <a:rPr lang="en-US" sz="2000" dirty="0"/>
              <a:t>Use Microsoft Purview Audit (Premium) to ensure you have the forensic depth required for legal discovery and long-term compliance retention (up to 10 years).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66093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3CE60-AC04-056C-9C4D-AAF91BDDF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Unified Architecture Map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B80064-CFE4-CFF1-47D4-DA6C60E739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3670801"/>
              </p:ext>
            </p:extLst>
          </p:nvPr>
        </p:nvGraphicFramePr>
        <p:xfrm>
          <a:off x="684621" y="1613642"/>
          <a:ext cx="10822757" cy="19812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2300220">
                  <a:extLst>
                    <a:ext uri="{9D8B030D-6E8A-4147-A177-3AD203B41FA5}">
                      <a16:colId xmlns:a16="http://schemas.microsoft.com/office/drawing/2014/main" val="1282506168"/>
                    </a:ext>
                  </a:extLst>
                </a:gridCol>
                <a:gridCol w="2280007">
                  <a:extLst>
                    <a:ext uri="{9D8B030D-6E8A-4147-A177-3AD203B41FA5}">
                      <a16:colId xmlns:a16="http://schemas.microsoft.com/office/drawing/2014/main" val="549854965"/>
                    </a:ext>
                  </a:extLst>
                </a:gridCol>
                <a:gridCol w="6242530">
                  <a:extLst>
                    <a:ext uri="{9D8B030D-6E8A-4147-A177-3AD203B41FA5}">
                      <a16:colId xmlns:a16="http://schemas.microsoft.com/office/drawing/2014/main" val="29107154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Feature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Role in Architecture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Key Benefit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32900827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Microsoft Sentinel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dirty="0">
                          <a:solidFill>
                            <a:srgbClr val="1F1F1F"/>
                          </a:solidFill>
                          <a:effectLst/>
                        </a:rPr>
                        <a:t>SIEM / SOAR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Cross-platform visibility and long-term retention.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26705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Microsoft Defender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XDR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Deep, specialized protection for specific workloads.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591356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Unified Portal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Management Plane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A single incident queue for both SIEM and XDR signals.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224107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Azure Arc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Hybrid Bridge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Extends compliance and operations to AWS, GCP, and On-Prem.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51575615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68FEAA4-CE92-BDBC-B09D-21F1FC39E864}"/>
              </a:ext>
            </a:extLst>
          </p:cNvPr>
          <p:cNvSpPr txBox="1"/>
          <p:nvPr/>
        </p:nvSpPr>
        <p:spPr>
          <a:xfrm>
            <a:off x="684620" y="3966196"/>
            <a:ext cx="108227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Architectural Recommendation:</a:t>
            </a:r>
            <a:endParaRPr lang="en-IN" sz="2400" dirty="0"/>
          </a:p>
          <a:p>
            <a:r>
              <a:rPr lang="en-US" sz="2400" dirty="0"/>
              <a:t>For a modern enterprise, you should design a "Hub and Spoke" logging model. The "Hub" is your Sentinel workspace in the Defender portal, and the "Spokes" are your various cloud and on-premise assets. </a:t>
            </a:r>
          </a:p>
          <a:p>
            <a:r>
              <a:rPr lang="en-US" sz="2400" dirty="0"/>
              <a:t>Ensure you are using Unified RBAC (Role-Based Access Control) so that identity, security, and compliance teams only see the data relevant to their roles.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2943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846EB-EBDD-DBBB-94EB-E558CDFCB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to Zero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1E72D-6603-9612-8225-C0531AF84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sz="2400" dirty="0"/>
              <a:t>As a Cybersecurity Architect understanding the three core principles of Zero Trust is fundamental. These aren't just abstract concepts; they are the architectural requirements that dictate how every Microsoft security product is configured.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Verify Explicitly: </a:t>
            </a:r>
            <a:r>
              <a:rPr lang="en-US" dirty="0"/>
              <a:t>Move away from "implicit trust" based on network location (e.g., "they are in the office, so they are safe").</a:t>
            </a:r>
            <a:endParaRPr lang="en-IN" dirty="0"/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Use Least Privilege: </a:t>
            </a:r>
            <a:r>
              <a:rPr lang="en-US" dirty="0"/>
              <a:t>Limit the "blast radius" of a compromised account by ensuring users have only the access they need, exactly when they need it.</a:t>
            </a:r>
            <a:endParaRPr lang="en-IN" dirty="0"/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IN" b="1" dirty="0"/>
              <a:t>Assume Breach: </a:t>
            </a:r>
            <a:r>
              <a:rPr lang="en-US" dirty="0"/>
              <a:t>Design the environment as if an attacker is already inside the network.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Strategic Alignment: MCRA and MCSB</a:t>
            </a:r>
          </a:p>
          <a:p>
            <a:pPr marL="0" indent="0">
              <a:buNone/>
            </a:pPr>
            <a:r>
              <a:rPr lang="en-US" sz="2400" dirty="0"/>
              <a:t>As an architect, you use these two frameworks to turn these principles into a roadmap: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Microsoft Cybersecurity Reference Architecture</a:t>
            </a:r>
            <a:r>
              <a:rPr lang="en-US" sz="2400" dirty="0"/>
              <a:t>: Provides the visual diagrams and technical "blueprints" for how these Zero Trust principles apply across Identity, Devices, IoT, and Multi-cloud.</a:t>
            </a:r>
          </a:p>
          <a:p>
            <a:r>
              <a:rPr lang="en-US" sz="2400" dirty="0">
                <a:solidFill>
                  <a:srgbClr val="0070C0"/>
                </a:solidFill>
              </a:rPr>
              <a:t>Microsoft Cloud Security Benchmark</a:t>
            </a:r>
            <a:r>
              <a:rPr lang="en-US" sz="2400" dirty="0"/>
              <a:t>: Provides the specific technical "checklist" or baseline (e.g., "Ensure MFA is enabled for all administrative accounts") to measure your adherence to Zero Trust.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840632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25316-85E2-6E33-5CD8-11E241AE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0185"/>
          </a:xfrm>
        </p:spPr>
        <p:txBody>
          <a:bodyPr/>
          <a:lstStyle/>
          <a:p>
            <a:r>
              <a:rPr lang="en-IN" dirty="0"/>
              <a:t>Core of Zero Trust - Foundational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B92B5-4F49-9030-C4DD-84B785FDE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73" y="1222310"/>
            <a:ext cx="10515600" cy="7101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As an architect, you design "Policy Engines" (like Conditional Access) that ingest signals from these six areas to make a real-time decision: </a:t>
            </a:r>
            <a:r>
              <a:rPr lang="en-US" sz="2000" b="1" dirty="0"/>
              <a:t>Allow, Block, or Challenge (MFA).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E82C422-9ABC-0FA9-3276-8E9C2FB42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55125"/>
              </p:ext>
            </p:extLst>
          </p:nvPr>
        </p:nvGraphicFramePr>
        <p:xfrm>
          <a:off x="938360" y="2079495"/>
          <a:ext cx="10448826" cy="4284870"/>
        </p:xfrm>
        <a:graphic>
          <a:graphicData uri="http://schemas.openxmlformats.org/drawingml/2006/table">
            <a:tbl>
              <a:tblPr>
                <a:tableStyleId>{D03447BB-5D67-496B-8E87-E561075AD55C}</a:tableStyleId>
              </a:tblPr>
              <a:tblGrid>
                <a:gridCol w="1380634">
                  <a:extLst>
                    <a:ext uri="{9D8B030D-6E8A-4147-A177-3AD203B41FA5}">
                      <a16:colId xmlns:a16="http://schemas.microsoft.com/office/drawing/2014/main" val="4124752879"/>
                    </a:ext>
                  </a:extLst>
                </a:gridCol>
                <a:gridCol w="4212213">
                  <a:extLst>
                    <a:ext uri="{9D8B030D-6E8A-4147-A177-3AD203B41FA5}">
                      <a16:colId xmlns:a16="http://schemas.microsoft.com/office/drawing/2014/main" val="1457315630"/>
                    </a:ext>
                  </a:extLst>
                </a:gridCol>
                <a:gridCol w="4855979">
                  <a:extLst>
                    <a:ext uri="{9D8B030D-6E8A-4147-A177-3AD203B41FA5}">
                      <a16:colId xmlns:a16="http://schemas.microsoft.com/office/drawing/2014/main" val="3468541851"/>
                    </a:ext>
                  </a:extLst>
                </a:gridCol>
              </a:tblGrid>
              <a:tr h="26713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Pillar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Definition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Architectural Focus &amp; Capabilities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extLst>
                  <a:ext uri="{0D108BD9-81ED-4DB2-BD59-A6C34878D82A}">
                    <a16:rowId xmlns:a16="http://schemas.microsoft.com/office/drawing/2014/main" val="3234208936"/>
                  </a:ext>
                </a:extLst>
              </a:tr>
              <a:tr h="6662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1. Identities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Represent people, services, or IoT devices; they serve as the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</a:rPr>
                        <a:t>primary perimeter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Strong authentication (passwordless/MFA), identity protection (detecting leaked credentials), and governing the access lifecycle.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extLst>
                  <a:ext uri="{0D108BD9-81ED-4DB2-BD59-A6C34878D82A}">
                    <a16:rowId xmlns:a16="http://schemas.microsoft.com/office/drawing/2014/main" val="94208064"/>
                  </a:ext>
                </a:extLst>
              </a:tr>
              <a:tr h="5438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2. Endpoints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Diverse devices including IoT, smartphones, and BYOD laptops where data flows after identity verification.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Monitoring device health and compliance; denying access to "jailbroken" or unpatched devices regardless of user identity.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extLst>
                  <a:ext uri="{0D108BD9-81ED-4DB2-BD59-A6C34878D82A}">
                    <a16:rowId xmlns:a16="http://schemas.microsoft.com/office/drawing/2014/main" val="2148693417"/>
                  </a:ext>
                </a:extLst>
              </a:tr>
              <a:tr h="6662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 dirty="0">
                          <a:solidFill>
                            <a:srgbClr val="1F1F1F"/>
                          </a:solidFill>
                          <a:effectLst/>
                        </a:rPr>
                        <a:t>3. Applications</a:t>
                      </a:r>
                      <a:endParaRPr lang="en-IN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On-premises, Azure, or third-party SaaS (e.g., Salesforce) apps and APIs used to consume data.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Discovering "Shadow IT," ensuring appropriate in-app permissions, and monitoring for anomalous behavior like massive data downloads.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extLst>
                  <a:ext uri="{0D108BD9-81ED-4DB2-BD59-A6C34878D82A}">
                    <a16:rowId xmlns:a16="http://schemas.microsoft.com/office/drawing/2014/main" val="2749696363"/>
                  </a:ext>
                </a:extLst>
              </a:tr>
              <a:tr h="6662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4. Data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The "</a:t>
                      </a:r>
                      <a:r>
                        <a:rPr lang="en-US" sz="1400" dirty="0">
                          <a:solidFill>
                            <a:srgbClr val="0070C0"/>
                          </a:solidFill>
                          <a:effectLst/>
                        </a:rPr>
                        <a:t>crown jewel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" of the organization and the primary target for attackers.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Classification, labeling, and encryption; designing for Data Loss Prevention (DLP) across all workloads to ensure data remains unreadable if exfiltrated.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extLst>
                  <a:ext uri="{0D108BD9-81ED-4DB2-BD59-A6C34878D82A}">
                    <a16:rowId xmlns:a16="http://schemas.microsoft.com/office/drawing/2014/main" val="2510017216"/>
                  </a:ext>
                </a:extLst>
              </a:tr>
              <a:tr h="54384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5. Infrastructure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Critical threat vectors including virtual machines, containers, and serverless functions.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Real-time attack detection via telemetry, automated configuration hardening, and enforcing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</a:rPr>
                        <a:t>Least Privilege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</a:rPr>
                        <a:t> for administrative access.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extLst>
                  <a:ext uri="{0D108BD9-81ED-4DB2-BD59-A6C34878D82A}">
                    <a16:rowId xmlns:a16="http://schemas.microsoft.com/office/drawing/2014/main" val="1951114600"/>
                  </a:ext>
                </a:extLst>
              </a:tr>
              <a:tr h="66621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400" b="1">
                          <a:solidFill>
                            <a:srgbClr val="1F1F1F"/>
                          </a:solidFill>
                          <a:effectLst/>
                        </a:rPr>
                        <a:t>6. Network</a:t>
                      </a:r>
                      <a:endParaRPr lang="en-IN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No longer a "trusted zone," but remains a vital transport medium for data.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</a:rPr>
                        <a:t>Implementing micro-segmentation (isolated islands) and real-time threat protection for all traffic, including internal "East-West" movement.</a:t>
                      </a:r>
                      <a:endParaRPr lang="en-U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45170" marR="45170" marT="30113" marB="30113" anchor="ctr"/>
                </a:tc>
                <a:extLst>
                  <a:ext uri="{0D108BD9-81ED-4DB2-BD59-A6C34878D82A}">
                    <a16:rowId xmlns:a16="http://schemas.microsoft.com/office/drawing/2014/main" val="334413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671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8015-AF9E-AD63-7EDF-C0974C78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2"/>
          </a:xfrm>
        </p:spPr>
        <p:txBody>
          <a:bodyPr>
            <a:normAutofit fontScale="90000"/>
          </a:bodyPr>
          <a:lstStyle/>
          <a:p>
            <a:r>
              <a:rPr lang="en-IN" dirty="0"/>
              <a:t>Zero trust cheatsheet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BAFCA-317A-B87E-088B-47B7E571F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749"/>
            <a:ext cx="10515600" cy="1473756"/>
          </a:xfrm>
        </p:spPr>
        <p:txBody>
          <a:bodyPr/>
          <a:lstStyle/>
          <a:p>
            <a:r>
              <a:rPr lang="en-US" dirty="0">
                <a:effectLst/>
              </a:rPr>
              <a:t>Never trust, always verify</a:t>
            </a:r>
            <a:r>
              <a:rPr lang="en-US" dirty="0"/>
              <a:t>: No implicit trust for users, devices, or applications—inside or outside the network.</a:t>
            </a:r>
          </a:p>
          <a:p>
            <a:r>
              <a:rPr lang="en-IN" dirty="0"/>
              <a:t>Pillars of Zero Trust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02313D2-5FCD-0487-FD08-28832A3B58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2329494"/>
              </p:ext>
            </p:extLst>
          </p:nvPr>
        </p:nvGraphicFramePr>
        <p:xfrm>
          <a:off x="838200" y="2690696"/>
          <a:ext cx="10765410" cy="38021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7654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E36BB-DC11-ACA3-09F5-DE8FCB4F0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"Architecture" Perspective: The Policy Engine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EE4CC-1433-450C-2E17-EEB1D1983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Zero Trust model functions through a central </a:t>
            </a:r>
            <a:r>
              <a:rPr lang="en-US" b="1" dirty="0"/>
              <a:t>Policy Engine</a:t>
            </a:r>
            <a:r>
              <a:rPr lang="en-US" dirty="0"/>
              <a:t>. In the Microsoft stack, this is primarily </a:t>
            </a:r>
            <a:r>
              <a:rPr lang="en-US" b="1" dirty="0"/>
              <a:t>Microsoft Entra Conditional Access</a:t>
            </a:r>
            <a:r>
              <a:rPr lang="en-US" dirty="0"/>
              <a:t>.</a:t>
            </a:r>
          </a:p>
          <a:p>
            <a:r>
              <a:rPr lang="en-US" b="1" dirty="0"/>
              <a:t>Signal:</a:t>
            </a:r>
            <a:r>
              <a:rPr lang="en-US" dirty="0"/>
              <a:t> Telemetry arrives from the six elements (e.g., a risky user on an unmanaged device).</a:t>
            </a:r>
          </a:p>
          <a:p>
            <a:r>
              <a:rPr lang="en-US" b="1" dirty="0"/>
              <a:t>Decision:</a:t>
            </a:r>
            <a:r>
              <a:rPr lang="en-US" dirty="0"/>
              <a:t> The Policy Engine compares the signal against your organizational requirements.</a:t>
            </a:r>
          </a:p>
          <a:p>
            <a:r>
              <a:rPr lang="en-US" b="1" dirty="0"/>
              <a:t>Enforcement:</a:t>
            </a:r>
            <a:r>
              <a:rPr lang="en-US" dirty="0"/>
              <a:t> The engine blocks access, requires MFA, or limits what the user can do within the app.</a:t>
            </a:r>
          </a:p>
        </p:txBody>
      </p:sp>
    </p:spTree>
    <p:extLst>
      <p:ext uri="{BB962C8B-B14F-4D97-AF65-F5344CB8AC3E}">
        <p14:creationId xmlns:p14="http://schemas.microsoft.com/office/powerpoint/2010/main" val="16647180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41B04-437A-6F2A-6A44-8EDF4AF26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8702"/>
          </a:xfrm>
        </p:spPr>
        <p:txBody>
          <a:bodyPr>
            <a:normAutofit fontScale="90000"/>
          </a:bodyPr>
          <a:lstStyle/>
          <a:p>
            <a:r>
              <a:rPr lang="en-IN" dirty="0"/>
              <a:t>Zero trust initiative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7E240E-C587-CEBD-F5BA-351627F8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802"/>
            <a:ext cx="10515600" cy="5121161"/>
          </a:xfrm>
        </p:spPr>
        <p:txBody>
          <a:bodyPr>
            <a:normAutofit/>
          </a:bodyPr>
          <a:lstStyle/>
          <a:p>
            <a:r>
              <a:rPr lang="en-US" sz="2000" dirty="0"/>
              <a:t>These are the foundational blocks that every architect should prioritize to achieve the highest impact on risk reduction.</a:t>
            </a:r>
          </a:p>
          <a:p>
            <a:r>
              <a:rPr lang="en-US" sz="2000" b="1" dirty="0"/>
              <a:t>Top Priorities: Critical Security Modernization Steps</a:t>
            </a:r>
          </a:p>
          <a:p>
            <a:pPr lvl="1"/>
            <a:r>
              <a:rPr lang="en-US" sz="2000" dirty="0"/>
              <a:t>User Access and Productivity (Zero Trust Foundations)</a:t>
            </a:r>
          </a:p>
          <a:p>
            <a:pPr lvl="1"/>
            <a:r>
              <a:rPr lang="en-IN" sz="2000" dirty="0"/>
              <a:t>Data, Compliance &amp; Governance</a:t>
            </a:r>
          </a:p>
          <a:p>
            <a:pPr lvl="1"/>
            <a:r>
              <a:rPr lang="en-IN" sz="2000" dirty="0"/>
              <a:t>Modern Security Operations</a:t>
            </a:r>
            <a:endParaRPr lang="en-US" sz="2000" dirty="0"/>
          </a:p>
          <a:p>
            <a:r>
              <a:rPr lang="en-US" sz="2000" b="1" dirty="0"/>
              <a:t>"As Needed" Priorities: Cloud &amp; OT/IoT</a:t>
            </a:r>
          </a:p>
          <a:p>
            <a:pPr lvl="1"/>
            <a:r>
              <a:rPr lang="en-US" sz="2000" b="1" dirty="0"/>
              <a:t>Infrastructure &amp; Development: </a:t>
            </a:r>
            <a:r>
              <a:rPr lang="en-US" sz="2000" dirty="0"/>
              <a:t>This involves Security Hygiene (monitoring permissions/CIEM) and integrating security into the DevOps pipeline to ensure software is secure by design.</a:t>
            </a:r>
          </a:p>
          <a:p>
            <a:pPr lvl="1"/>
            <a:r>
              <a:rPr lang="en-US" sz="2000" b="1" dirty="0"/>
              <a:t>Operational Technology (OT) &amp; Industrial IoT: </a:t>
            </a:r>
            <a:r>
              <a:rPr lang="en-US" sz="2000" dirty="0"/>
              <a:t>Using Microsoft Defender for IoT to discover, protect, and monitor physical assets that have operational or life-safety impacts.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2492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 diagram depicting the three Zero Trust principles and the five security modernization initiatives.">
            <a:extLst>
              <a:ext uri="{FF2B5EF4-FFF2-40B4-BE49-F238E27FC236}">
                <a16:creationId xmlns:a16="http://schemas.microsoft.com/office/drawing/2014/main" id="{85B52AD2-0389-10BD-E15D-864DF35ED7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847725"/>
            <a:ext cx="10525125" cy="516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6607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231B-CB8F-3855-0E72-197B4725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Access and Productivity (Zero Trust Foundations)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D3FF9-3304-047C-CED5-6313FAF77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primary goal here is to </a:t>
            </a:r>
            <a:r>
              <a:rPr lang="en-US" b="1" dirty="0"/>
              <a:t>explicitly validate trust</a:t>
            </a:r>
            <a:r>
              <a:rPr lang="en-US" dirty="0"/>
              <a:t> for every access request using </a:t>
            </a:r>
            <a:r>
              <a:rPr lang="en-US" b="1" dirty="0"/>
              <a:t>Microsoft Entra Conditional Access</a:t>
            </a:r>
            <a:r>
              <a:rPr lang="en-US" dirty="0"/>
              <a:t>.</a:t>
            </a:r>
          </a:p>
          <a:p>
            <a:r>
              <a:rPr lang="en-US" b="1" dirty="0"/>
              <a:t>User Accounts:</a:t>
            </a:r>
            <a:r>
              <a:rPr lang="en-US" dirty="0"/>
              <a:t> Moving beyond passwords to </a:t>
            </a:r>
            <a:r>
              <a:rPr lang="en-US" b="1" dirty="0" err="1"/>
              <a:t>Passwordless</a:t>
            </a:r>
            <a:r>
              <a:rPr lang="en-US" b="1" dirty="0"/>
              <a:t> or MFA</a:t>
            </a:r>
            <a:r>
              <a:rPr lang="en-US" dirty="0"/>
              <a:t> for all users, while measuring risk through behavioral analytics.</a:t>
            </a:r>
          </a:p>
          <a:p>
            <a:r>
              <a:rPr lang="en-US" b="1" dirty="0"/>
              <a:t>Endpoints:</a:t>
            </a:r>
            <a:r>
              <a:rPr lang="en-US" dirty="0"/>
              <a:t> Ensuring device integrity is a prerequisite for access, integrating XDR signals to verify the health of the machine.</a:t>
            </a:r>
          </a:p>
          <a:p>
            <a:r>
              <a:rPr lang="en-US" b="1" dirty="0"/>
              <a:t>Apps &amp; Network:</a:t>
            </a:r>
            <a:r>
              <a:rPr lang="en-US" dirty="0"/>
              <a:t> Utilizing </a:t>
            </a:r>
            <a:r>
              <a:rPr lang="en-US" b="1" dirty="0"/>
              <a:t>App Proxy</a:t>
            </a:r>
            <a:r>
              <a:rPr lang="en-US" dirty="0"/>
              <a:t> for legacy applications and establishing basic segmentation to isolate critical business resources.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6172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05B30-6974-0885-4D0F-C7B680D9F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Data, Compliance &amp;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12DA8-0EFD-0FB7-66FE-5E74C489A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layer focuses on aligning security with the organization's mission and regulatory requirements.</a:t>
            </a:r>
          </a:p>
          <a:p>
            <a:r>
              <a:rPr lang="en-US" b="1" dirty="0"/>
              <a:t>Ransomware Recovery Readiness:</a:t>
            </a:r>
            <a:r>
              <a:rPr lang="en-US" dirty="0"/>
              <a:t> A key architectural requirement is ensuring backups are </a:t>
            </a:r>
            <a:r>
              <a:rPr lang="en-US" b="1" dirty="0"/>
              <a:t>secure, immutable, and validated</a:t>
            </a:r>
            <a:r>
              <a:rPr lang="en-US" dirty="0"/>
              <a:t> for rapid recovery.</a:t>
            </a:r>
          </a:p>
          <a:p>
            <a:r>
              <a:rPr lang="en-US" b="1" dirty="0"/>
              <a:t>Data Discovery:</a:t>
            </a:r>
            <a:r>
              <a:rPr lang="en-US" dirty="0"/>
              <a:t> Using </a:t>
            </a:r>
            <a:r>
              <a:rPr lang="en-US" b="1" dirty="0"/>
              <a:t>Microsoft Purview (formerly Info Protection)</a:t>
            </a:r>
            <a:r>
              <a:rPr lang="en-US" dirty="0"/>
              <a:t> and Defender for Cloud Apps to identify and protect sensitive information wherever it lives.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00780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B8227-4AC4-113B-316E-E278A870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Modern Security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2848D-5927-0EF8-DBAD-55EE00DB2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This section focuses on the efficiency of the Security Operations Center (SOC).</a:t>
            </a:r>
          </a:p>
          <a:p>
            <a:r>
              <a:rPr lang="en-US" b="1" dirty="0"/>
              <a:t>Streamline Response:</a:t>
            </a:r>
            <a:r>
              <a:rPr lang="en-US" dirty="0"/>
              <a:t> Leveraging </a:t>
            </a:r>
            <a:r>
              <a:rPr lang="en-US" b="1" dirty="0"/>
              <a:t>XDR</a:t>
            </a:r>
            <a:r>
              <a:rPr lang="en-US" dirty="0"/>
              <a:t> for Endpoint, Email, and Identity to automatically correlate alerts.</a:t>
            </a:r>
          </a:p>
          <a:p>
            <a:r>
              <a:rPr lang="en-US" b="1" dirty="0"/>
              <a:t>Unified Visibility:</a:t>
            </a:r>
            <a:r>
              <a:rPr lang="en-US" dirty="0"/>
              <a:t> Centralizing all signals into </a:t>
            </a:r>
            <a:r>
              <a:rPr lang="en-US" b="1" dirty="0"/>
              <a:t>Microsoft Sentinel (SIEM)</a:t>
            </a:r>
            <a:r>
              <a:rPr lang="en-US" dirty="0"/>
              <a:t> for a comprehensive view of the digital estate.</a:t>
            </a:r>
          </a:p>
          <a:p>
            <a:r>
              <a:rPr lang="en-US" b="1" dirty="0"/>
              <a:t>SOAR:</a:t>
            </a:r>
            <a:r>
              <a:rPr lang="en-US" dirty="0"/>
              <a:t> Reducing manual effort through </a:t>
            </a:r>
            <a:r>
              <a:rPr lang="en-US" b="1" dirty="0"/>
              <a:t>automated investigation and remediation</a:t>
            </a:r>
            <a:r>
              <a:rPr lang="en-US" dirty="0"/>
              <a:t> to handle high-volume threats.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49684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E304-D2AA-2975-A1D9-AE81562F9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"As Needed" Priorities: Cloud &amp; OT/IoT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F02B4-3C16-1E89-8CF8-7B36C7EAFD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These steps are typically driven by specific organizational shifts, such as cloud migration or the use of industrial controllers.</a:t>
            </a:r>
          </a:p>
          <a:p>
            <a:r>
              <a:rPr lang="en-US" b="1" dirty="0"/>
              <a:t>Infrastructure &amp; Development:</a:t>
            </a:r>
            <a:r>
              <a:rPr lang="en-US" dirty="0"/>
              <a:t> This involves </a:t>
            </a:r>
            <a:r>
              <a:rPr lang="en-US" b="1" dirty="0"/>
              <a:t>Security Hygiene</a:t>
            </a:r>
            <a:r>
              <a:rPr lang="en-US" dirty="0"/>
              <a:t> (monitoring permissions/CIEM) and integrating security into the </a:t>
            </a:r>
            <a:r>
              <a:rPr lang="en-US" b="1" dirty="0"/>
              <a:t>DevOps</a:t>
            </a:r>
            <a:r>
              <a:rPr lang="en-US" dirty="0"/>
              <a:t> pipeline to ensure software is secure by design.</a:t>
            </a:r>
          </a:p>
          <a:p>
            <a:r>
              <a:rPr lang="en-US" b="1" dirty="0"/>
              <a:t>Operational Technology (OT) &amp; Industrial IoT:</a:t>
            </a:r>
            <a:r>
              <a:rPr lang="en-US" dirty="0"/>
              <a:t> Using </a:t>
            </a:r>
            <a:r>
              <a:rPr lang="en-US" b="1" dirty="0"/>
              <a:t>Microsoft Defender for IoT</a:t>
            </a:r>
            <a:r>
              <a:rPr lang="en-US" dirty="0"/>
              <a:t> to discover, protect, and monitor physical assets that have operational or life-safety impacts.</a:t>
            </a:r>
          </a:p>
        </p:txBody>
      </p:sp>
    </p:spTree>
    <p:extLst>
      <p:ext uri="{BB962C8B-B14F-4D97-AF65-F5344CB8AC3E}">
        <p14:creationId xmlns:p14="http://schemas.microsoft.com/office/powerpoint/2010/main" val="688177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FC9CA-BC00-BE78-4108-C2AAB493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Strategic Guidance for Architects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5C509-BCE5-5A28-9CCC-3125ACF35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As noted in the diagram's callouts, a successful implementation strategy includes:</a:t>
            </a:r>
          </a:p>
          <a:p>
            <a:r>
              <a:rPr lang="en-US" b="1" dirty="0"/>
              <a:t>Roll out to IT Admins first:</a:t>
            </a:r>
            <a:r>
              <a:rPr lang="en-US" dirty="0"/>
              <a:t> Because they are highly targeted by attackers and can provide valuable technical feedback before a company-wide rollout.</a:t>
            </a:r>
          </a:p>
          <a:p>
            <a:r>
              <a:rPr lang="en-US" b="1" dirty="0"/>
              <a:t>Align to Business Migration:</a:t>
            </a:r>
            <a:r>
              <a:rPr lang="en-US" dirty="0"/>
              <a:t> Infrastructure and development security should be aligned directly with the organization's </a:t>
            </a:r>
            <a:r>
              <a:rPr lang="en-US" b="1" dirty="0"/>
              <a:t>cloud migration schedule</a:t>
            </a:r>
            <a:r>
              <a:rPr lang="en-US" dirty="0"/>
              <a:t> to avoid friction.</a:t>
            </a:r>
          </a:p>
        </p:txBody>
      </p:sp>
    </p:spTree>
    <p:extLst>
      <p:ext uri="{BB962C8B-B14F-4D97-AF65-F5344CB8AC3E}">
        <p14:creationId xmlns:p14="http://schemas.microsoft.com/office/powerpoint/2010/main" val="38620821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C506-4280-5EBA-C901-5CF24A50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0995"/>
          </a:xfrm>
        </p:spPr>
        <p:txBody>
          <a:bodyPr>
            <a:normAutofit fontScale="90000"/>
          </a:bodyPr>
          <a:lstStyle/>
          <a:p>
            <a:r>
              <a:rPr lang="en-IN" dirty="0"/>
              <a:t>Zero trust implementation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B3417-884D-B39D-F027-A351FB120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99241"/>
            <a:ext cx="10822757" cy="54936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Implementing Zero Trust is not a single configuration but a strategy deployed across seven technology pillars. </a:t>
            </a: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Identify integration points: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Map IT components and interactions (use frameworks like MCRA).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Align security with business goals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Ensure protection supports organizational objectives.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Translate requirements into technical capabilities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Define services, products, and processes.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Design for resilience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Build systems that withstand and recover from attacks.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Address hybrid and multi‑tenant environments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Apply controls across cloud, on‑prem, and shared infrastructures.</a:t>
            </a:r>
          </a:p>
          <a:p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Implement traffic filtering and segmentation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: Control flows and isolate sensitive resources.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405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449C5-3A31-BB1A-608C-E9A88704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Zero trust technology 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D09C4-48C5-C591-C82F-9B1FBD3ED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Implementing Zero Trust is not a single configuration but a strategy deployed across seven technology pillars. While the first six pillars serve as signal sources and control planes,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seventh pillar—Visibility, Automation, and Orchestration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—integrates these signals to defend against threats and validate trust in every transaction.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7 Zero Trust Technology Pillars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Microsoft defines seven foundational elements that must work together to provide end-to-end security.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555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AB6C7-E433-AA23-EE19-F373821F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8911-1097-5296-1472-C1E2C3831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Zero trust technology 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D9AC3-DE38-5EFE-9F84-4379D278D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5229"/>
            <a:ext cx="10515600" cy="7258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Microsoft defines seven foundational elements that must work together to provide end-to-end security.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32EDDB-6262-9737-CA0E-3331917E18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721097"/>
              </p:ext>
            </p:extLst>
          </p:nvPr>
        </p:nvGraphicFramePr>
        <p:xfrm>
          <a:off x="838200" y="2023586"/>
          <a:ext cx="10822757" cy="4469522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2630093">
                  <a:extLst>
                    <a:ext uri="{9D8B030D-6E8A-4147-A177-3AD203B41FA5}">
                      <a16:colId xmlns:a16="http://schemas.microsoft.com/office/drawing/2014/main" val="4050465541"/>
                    </a:ext>
                  </a:extLst>
                </a:gridCol>
                <a:gridCol w="8192664">
                  <a:extLst>
                    <a:ext uri="{9D8B030D-6E8A-4147-A177-3AD203B41FA5}">
                      <a16:colId xmlns:a16="http://schemas.microsoft.com/office/drawing/2014/main" val="1179196586"/>
                    </a:ext>
                  </a:extLst>
                </a:gridCol>
              </a:tblGrid>
              <a:tr h="333328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Pillar</a:t>
                      </a:r>
                      <a:endParaRPr lang="en-IN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Role in Zero Trust</a:t>
                      </a:r>
                      <a:endParaRPr lang="en-IN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2978634009"/>
                  </a:ext>
                </a:extLst>
              </a:tr>
              <a:tr h="59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Identities</a:t>
                      </a:r>
                      <a:endParaRPr lang="en-IN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The primary control plane. Verify everyone (people, services, or IoT) with strong authentication and least-privilege.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3375538260"/>
                  </a:ext>
                </a:extLst>
              </a:tr>
              <a:tr h="59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Endpoints</a:t>
                      </a:r>
                      <a:endParaRPr lang="en-IN" sz="160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Monitor and enforce device health and compliance before granting access to data.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4064272001"/>
                  </a:ext>
                </a:extLst>
              </a:tr>
              <a:tr h="59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Data</a:t>
                      </a:r>
                      <a:endParaRPr lang="en-IN" sz="160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The ultimate goal is to protect data. Classify, label, and encrypt it, even when it leaves controlled environments.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4004408704"/>
                  </a:ext>
                </a:extLst>
              </a:tr>
              <a:tr h="59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Apps</a:t>
                      </a:r>
                      <a:endParaRPr lang="en-IN" sz="160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Apply controls to discover "Shadow IT," ensure in-app permissions, and monitor for abnormal behavior.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69427270"/>
                  </a:ext>
                </a:extLst>
              </a:tr>
              <a:tr h="59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Infrastructure</a:t>
                      </a:r>
                      <a:endParaRPr lang="en-IN" sz="160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Hardened via JIT access and telemetry to detect anomalies and automatically block risky behavior.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745243797"/>
                  </a:ext>
                </a:extLst>
              </a:tr>
              <a:tr h="59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Network</a:t>
                      </a:r>
                      <a:endParaRPr lang="en-IN" sz="160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Segment networks (micro-segmentation) and use real-time threat protection to prevent lateral movement.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1346456120"/>
                  </a:ext>
                </a:extLst>
              </a:tr>
              <a:tr h="59085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sz="16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Visibility, Automation, &amp; Orchestration</a:t>
                      </a:r>
                      <a:endParaRPr lang="en-IN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sz="16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The Integration Pillar.</a:t>
                      </a:r>
                      <a:r>
                        <a:rPr lang="en-US" sz="160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</a:rPr>
                        <a:t> Collects signals from the other six to provide incident visibility and automated response.</a:t>
                      </a:r>
                      <a:endParaRPr lang="en-US" sz="160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7289" marR="67289" marT="44859" marB="44859" anchor="ctr"/>
                </a:tc>
                <a:extLst>
                  <a:ext uri="{0D108BD9-81ED-4DB2-BD59-A6C34878D82A}">
                    <a16:rowId xmlns:a16="http://schemas.microsoft.com/office/drawing/2014/main" val="15976666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67521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1D725-9501-F2E5-51AB-3B595FBA5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2714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Visibility, Automation, and Orchestration Objectives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F59DB-993A-4295-05B6-A0DD27E4F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951" y="1036948"/>
            <a:ext cx="11698663" cy="557124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When rolling out this critical seventh pillar, Microsoft recommends a phased approach focusing on three primary objectives.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 Visibility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Before you can automate, you must be able to see the full narrative of an attack.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Centralize Incidents: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Connect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Microsoft Defender XDR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Microsoft Purview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and third-party products to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Microsoft Sentinel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to create a unified investigation platform.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Reactive Detection: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Use SIEM analytics to enrich and correlate data from the six pillars, flagging suspicious activities as incidents for investigation.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Proactive Hunting: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Apply a "compromise hypothesis" to search for bad actors already in the network using powerful hunting tools.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Automation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Automating remediation steps reduces the "mean time to respond" (MTTR) and prevents analyst burnout.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Automated Investigation &amp; Response (AIR):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Start with a test group to analyze investigation steps, then gradually transition to automatic approval for all devices.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Threat Intelligence Integration: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Link Microsoft Purview Data Connectors and external threat intelligence feeds to Sentinel to trigger automated playbooks.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Policy Modification: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If an investigation reveals a gap in your Zero Trust deployment, modify your policies automatically to prevent future incidents.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1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Enable Additional Protection and Detection Controls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Once the foundation is set, enhance the quality of your signals.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Attack Surface Reduction: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Implement additional controls to improve the fidelity of the signals sent to Defender and Sentinel.</a:t>
            </a:r>
          </a:p>
          <a:p>
            <a:pPr lvl="1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Orchestration: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Coordinate activities across the entire ecosystem so that a signal in the "Identity" pillar can trigger an automated "Network" isolation.</a:t>
            </a:r>
          </a:p>
        </p:txBody>
      </p:sp>
    </p:spTree>
    <p:extLst>
      <p:ext uri="{BB962C8B-B14F-4D97-AF65-F5344CB8AC3E}">
        <p14:creationId xmlns:p14="http://schemas.microsoft.com/office/powerpoint/2010/main" val="5581399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CAFE-1206-28F7-96A5-E40425A83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Securing Identity with Zero trust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7A358-B779-06A6-EC52-B450E91F98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Microsoft Zero Trust framework, </a:t>
            </a:r>
            <a:r>
              <a:rPr lang="en-US" b="1" dirty="0"/>
              <a:t>identity</a:t>
            </a:r>
            <a:r>
              <a:rPr lang="en-US" dirty="0"/>
              <a:t> is the primary control plane. Before any identity—human or non-human—accesses a resource, you must explicitly verify it using strong authentication, ensure its behavior is typical, and strictly enforce least privilege access.</a:t>
            </a:r>
          </a:p>
          <a:p>
            <a:r>
              <a:rPr lang="en-US" dirty="0"/>
              <a:t>To architect this, you use </a:t>
            </a:r>
            <a:r>
              <a:rPr lang="en-US" b="1" dirty="0"/>
              <a:t>Microsoft Entra ID</a:t>
            </a:r>
            <a:r>
              <a:rPr lang="en-US" dirty="0"/>
              <a:t> as the "backbone," processing real-time signals through a policy engine to determine whether to allow, challenge, or block access.</a:t>
            </a:r>
          </a:p>
        </p:txBody>
      </p:sp>
    </p:spTree>
    <p:extLst>
      <p:ext uri="{BB962C8B-B14F-4D97-AF65-F5344CB8AC3E}">
        <p14:creationId xmlns:p14="http://schemas.microsoft.com/office/powerpoint/2010/main" val="2994313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B86E0-7AED-AAFF-65A9-B6E40D07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40" y="186016"/>
            <a:ext cx="11525839" cy="709531"/>
          </a:xfrm>
        </p:spPr>
        <p:txBody>
          <a:bodyPr/>
          <a:lstStyle/>
          <a:p>
            <a:r>
              <a:rPr lang="en-US" dirty="0"/>
              <a:t>Identity Zero Trust Deployment Phases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A7C13-1989-DDAD-54F5-6AAF1DBAD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197204"/>
            <a:ext cx="10964159" cy="5363851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deployment is divided into initial "quick wins" and advanced ongoing protection.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70C0"/>
                </a:solidFill>
              </a:rPr>
              <a:t>Phase 1: Initial Deployment Objectives</a:t>
            </a:r>
          </a:p>
          <a:p>
            <a:pPr>
              <a:lnSpc>
                <a:spcPct val="120000"/>
              </a:lnSpc>
            </a:pPr>
            <a:r>
              <a:rPr lang="en-US" sz="2900" b="1" dirty="0"/>
              <a:t>Federate Cloud and On-Premises Identities:</a:t>
            </a:r>
            <a:r>
              <a:rPr lang="en-US" sz="2900" dirty="0"/>
              <a:t> Ensure your cloud identity provider is the single source of truth for all users. For hybrid environments, use </a:t>
            </a:r>
            <a:r>
              <a:rPr lang="en-US" sz="2900" b="1" dirty="0"/>
              <a:t>Microsoft Entra Connect</a:t>
            </a:r>
            <a:r>
              <a:rPr lang="en-US" sz="2900" dirty="0"/>
              <a:t> to sync identities, allowing for centralized policy enforcement.</a:t>
            </a:r>
          </a:p>
          <a:p>
            <a:pPr>
              <a:lnSpc>
                <a:spcPct val="120000"/>
              </a:lnSpc>
            </a:pPr>
            <a:r>
              <a:rPr lang="en-US" sz="2900" b="1" dirty="0"/>
              <a:t>Gate Access with Conditional Access:</a:t>
            </a:r>
            <a:r>
              <a:rPr lang="en-US" sz="2900" dirty="0"/>
              <a:t> Implement policies that act as "if-then" statements. For example, </a:t>
            </a:r>
            <a:r>
              <a:rPr lang="en-US" sz="2900" b="1" dirty="0"/>
              <a:t>IF</a:t>
            </a:r>
            <a:r>
              <a:rPr lang="en-US" sz="2900" dirty="0"/>
              <a:t> a user is from an unfamiliar location, </a:t>
            </a:r>
            <a:r>
              <a:rPr lang="en-US" sz="2900" b="1" dirty="0"/>
              <a:t>THEN</a:t>
            </a:r>
            <a:r>
              <a:rPr lang="en-US" sz="2900" dirty="0"/>
              <a:t> require MFA.</a:t>
            </a:r>
          </a:p>
          <a:p>
            <a:pPr>
              <a:lnSpc>
                <a:spcPct val="120000"/>
              </a:lnSpc>
            </a:pPr>
            <a:r>
              <a:rPr lang="en-US" sz="2900" b="1" dirty="0"/>
              <a:t>Improve Visibility with Analytics:</a:t>
            </a:r>
            <a:r>
              <a:rPr lang="en-US" sz="2900" dirty="0"/>
              <a:t> Use </a:t>
            </a:r>
            <a:r>
              <a:rPr lang="en-US" sz="2900" b="1" dirty="0"/>
              <a:t>Identity Secure Score</a:t>
            </a:r>
            <a:r>
              <a:rPr lang="en-US" sz="2900" dirty="0"/>
              <a:t> and sign-in logs to find gaps in your posture.</a:t>
            </a:r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0070C0"/>
                </a:solidFill>
              </a:rPr>
              <a:t>Phase 2: Advanced Deployment Objectives</a:t>
            </a:r>
          </a:p>
          <a:p>
            <a:pPr>
              <a:lnSpc>
                <a:spcPct val="120000"/>
              </a:lnSpc>
            </a:pPr>
            <a:r>
              <a:rPr lang="en-US" sz="2900" b="1" dirty="0"/>
              <a:t>Implement Identity Governance:</a:t>
            </a:r>
            <a:r>
              <a:rPr lang="en-US" sz="2900" dirty="0"/>
              <a:t> Use </a:t>
            </a:r>
            <a:r>
              <a:rPr lang="en-US" sz="2900" b="1" dirty="0"/>
              <a:t>Entitlement Management</a:t>
            </a:r>
            <a:r>
              <a:rPr lang="en-US" sz="2900" dirty="0"/>
              <a:t> and </a:t>
            </a:r>
            <a:r>
              <a:rPr lang="en-US" sz="2900" b="1" dirty="0"/>
              <a:t>Access Reviews</a:t>
            </a:r>
            <a:r>
              <a:rPr lang="en-US" sz="2900" dirty="0"/>
              <a:t> to automate the user lifecycle (Joiner, Mover, Leaver) and ensure people don't keep access they no longer need.</a:t>
            </a:r>
          </a:p>
          <a:p>
            <a:pPr>
              <a:lnSpc>
                <a:spcPct val="120000"/>
              </a:lnSpc>
            </a:pPr>
            <a:r>
              <a:rPr lang="en-US" sz="2900" b="1" dirty="0"/>
              <a:t>Real-Time Risk Analysis:</a:t>
            </a:r>
            <a:r>
              <a:rPr lang="en-US" sz="2900" dirty="0"/>
              <a:t> Use </a:t>
            </a:r>
            <a:r>
              <a:rPr lang="en-US" sz="2900" b="1" dirty="0"/>
              <a:t>Microsoft Entra ID Protection</a:t>
            </a:r>
            <a:r>
              <a:rPr lang="en-US" sz="2900" dirty="0"/>
              <a:t> to analyze user and sign-in risk. If a user’s credentials appear on the dark web (High User Risk), the system can automatically force a password change.</a:t>
            </a:r>
          </a:p>
          <a:p>
            <a:pPr>
              <a:lnSpc>
                <a:spcPct val="120000"/>
              </a:lnSpc>
            </a:pPr>
            <a:r>
              <a:rPr lang="en-US" sz="2900" b="1" dirty="0"/>
              <a:t>Integrate Threat Signals:</a:t>
            </a:r>
            <a:r>
              <a:rPr lang="en-US" sz="2900" dirty="0"/>
              <a:t> Connect signals from </a:t>
            </a:r>
            <a:r>
              <a:rPr lang="en-US" sz="2900" b="1" dirty="0"/>
              <a:t>Microsoft Defender for Identity</a:t>
            </a:r>
            <a:r>
              <a:rPr lang="en-US" sz="2900" dirty="0"/>
              <a:t> and other XDR tools into your policies. This allows a "High Risk" signal from an infected endpoint to automatically block that user's identity across the entire estate.</a:t>
            </a:r>
          </a:p>
        </p:txBody>
      </p:sp>
    </p:spTree>
    <p:extLst>
      <p:ext uri="{BB962C8B-B14F-4D97-AF65-F5344CB8AC3E}">
        <p14:creationId xmlns:p14="http://schemas.microsoft.com/office/powerpoint/2010/main" val="26044352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7B00-D852-F2D2-B188-E13BDD227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capabilities Architect to look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633D553-E184-B511-F294-BA4D882316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6339374"/>
              </p:ext>
            </p:extLst>
          </p:nvPr>
        </p:nvGraphicFramePr>
        <p:xfrm>
          <a:off x="838200" y="2050574"/>
          <a:ext cx="10515600" cy="390144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6205192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263391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800551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Capability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Zero Trust Principle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 dirty="0">
                          <a:solidFill>
                            <a:srgbClr val="1F1F1F"/>
                          </a:solidFill>
                          <a:effectLst/>
                        </a:rPr>
                        <a:t>Architectural Implementation</a:t>
                      </a:r>
                      <a:endParaRPr lang="en-IN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88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Passwordless/MFA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Verify Explicitly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Enforce FIDO2 or Windows Hello to eliminate password-based attacks.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2098940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PIM (Privileged Identity Management)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Least Privilege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Grant admin rights "Just-In-Time" for a limited window instead of permanent access.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01380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Conditional Access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Verify Explicitly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</a:rPr>
                        <a:t>Block legacy authentication and require compliant devices for sensitive apps.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2425397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 b="1">
                          <a:solidFill>
                            <a:srgbClr val="1F1F1F"/>
                          </a:solidFill>
                          <a:effectLst/>
                        </a:rPr>
                        <a:t>Identity Protection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IN">
                          <a:solidFill>
                            <a:srgbClr val="1F1F1F"/>
                          </a:solidFill>
                          <a:effectLst/>
                        </a:rPr>
                        <a:t>Assume Breach</a:t>
                      </a:r>
                      <a:endParaRPr lang="en-IN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dirty="0">
                          <a:solidFill>
                            <a:srgbClr val="1F1F1F"/>
                          </a:solidFill>
                          <a:effectLst/>
                        </a:rPr>
                        <a:t>Automate remediation for "impossible travel" or leaked credential alerts.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/>
                </a:tc>
                <a:extLst>
                  <a:ext uri="{0D108BD9-81ED-4DB2-BD59-A6C34878D82A}">
                    <a16:rowId xmlns:a16="http://schemas.microsoft.com/office/drawing/2014/main" val="1416064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9170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400</TotalTime>
  <Words>3534</Words>
  <Application>Microsoft Office PowerPoint</Application>
  <PresentationFormat>Widescreen</PresentationFormat>
  <Paragraphs>265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Courier New</vt:lpstr>
      <vt:lpstr>Google Sans Text</vt:lpstr>
      <vt:lpstr>Office Theme</vt:lpstr>
      <vt:lpstr>Microsoft Cyber Security Architect</vt:lpstr>
      <vt:lpstr>What this role will do?</vt:lpstr>
      <vt:lpstr>What this role will do?</vt:lpstr>
      <vt:lpstr>Translating Business Requirements: </vt:lpstr>
      <vt:lpstr>Cross-Functional Collaboration</vt:lpstr>
      <vt:lpstr>Domain Proficiency Requirements</vt:lpstr>
      <vt:lpstr>Key Frameworks to Master</vt:lpstr>
      <vt:lpstr>Core Pillars of the Microsoft Cybersecurity Architecture</vt:lpstr>
      <vt:lpstr>The "Architect" Mindset: From Strategy to Capability</vt:lpstr>
      <vt:lpstr>Design Security Operations and Compliance through Microsoft Defender and Sentinel</vt:lpstr>
      <vt:lpstr>Design the Security Operations (SecOps) Strategy</vt:lpstr>
      <vt:lpstr>Phase A: The Unified Data Lake</vt:lpstr>
      <vt:lpstr>Phase B: Extended Detection and Response (XDR)</vt:lpstr>
      <vt:lpstr>Phase C: Automation &amp; Orchestration (SOAR)</vt:lpstr>
      <vt:lpstr>Design the Compliance Strategy</vt:lpstr>
      <vt:lpstr>The Unified Architecture Map</vt:lpstr>
      <vt:lpstr>Introduction to Zero Trust</vt:lpstr>
      <vt:lpstr>Core of Zero Trust - Foundational Elements</vt:lpstr>
      <vt:lpstr>Zero trust cheatsheet</vt:lpstr>
      <vt:lpstr>The "Architecture" Perspective: The Policy Engine</vt:lpstr>
      <vt:lpstr>Zero trust initiative</vt:lpstr>
      <vt:lpstr>PowerPoint Presentation</vt:lpstr>
      <vt:lpstr>User Access and Productivity (Zero Trust Foundations)</vt:lpstr>
      <vt:lpstr>Data, Compliance &amp; Governance</vt:lpstr>
      <vt:lpstr>Modern Security Operations</vt:lpstr>
      <vt:lpstr>"As Needed" Priorities: Cloud &amp; OT/IoT</vt:lpstr>
      <vt:lpstr>Strategic Guidance for Architects</vt:lpstr>
      <vt:lpstr>Zero trust implementation steps</vt:lpstr>
      <vt:lpstr>Zero trust technology pillars</vt:lpstr>
      <vt:lpstr>Zero trust technology pillars</vt:lpstr>
      <vt:lpstr>Visibility, Automation, and Orchestration Objectives</vt:lpstr>
      <vt:lpstr>Securing Identity with Zero trust</vt:lpstr>
      <vt:lpstr>Identity Zero Trust Deployment Phases</vt:lpstr>
      <vt:lpstr>Key capabilities Architect to look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j0352</dc:creator>
  <cp:lastModifiedBy>sandeep j0352</cp:lastModifiedBy>
  <cp:revision>93</cp:revision>
  <dcterms:created xsi:type="dcterms:W3CDTF">2025-12-31T05:50:49Z</dcterms:created>
  <dcterms:modified xsi:type="dcterms:W3CDTF">2025-12-31T12:31:30Z</dcterms:modified>
</cp:coreProperties>
</file>